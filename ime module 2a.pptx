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2" r:id="rId8"/>
    <p:sldId id="264" r:id="rId9"/>
    <p:sldId id="265" r:id="rId10"/>
    <p:sldId id="267" r:id="rId11"/>
    <p:sldId id="266" r:id="rId12"/>
    <p:sldId id="268" r:id="rId13"/>
    <p:sldId id="269" r:id="rId14"/>
    <p:sldId id="270" r:id="rId15"/>
    <p:sldId id="274" r:id="rId16"/>
    <p:sldId id="271" r:id="rId17"/>
    <p:sldId id="272" r:id="rId18"/>
    <p:sldId id="273" r:id="rId19"/>
    <p:sldId id="275" r:id="rId20"/>
    <p:sldId id="279" r:id="rId21"/>
    <p:sldId id="276" r:id="rId22"/>
    <p:sldId id="277" r:id="rId23"/>
    <p:sldId id="280" r:id="rId24"/>
    <p:sldId id="278" r:id="rId25"/>
    <p:sldId id="289" r:id="rId26"/>
    <p:sldId id="282" r:id="rId27"/>
    <p:sldId id="283" r:id="rId28"/>
    <p:sldId id="284" r:id="rId29"/>
    <p:sldId id="285" r:id="rId30"/>
    <p:sldId id="286" r:id="rId31"/>
    <p:sldId id="290" r:id="rId32"/>
    <p:sldId id="287" r:id="rId33"/>
    <p:sldId id="288" r:id="rId34"/>
    <p:sldId id="291" r:id="rId35"/>
    <p:sldId id="295" r:id="rId36"/>
    <p:sldId id="292" r:id="rId37"/>
    <p:sldId id="296" r:id="rId38"/>
    <p:sldId id="293" r:id="rId39"/>
    <p:sldId id="294" r:id="rId40"/>
    <p:sldId id="297" r:id="rId41"/>
    <p:sldId id="298" r:id="rId42"/>
    <p:sldId id="299" r:id="rId43"/>
    <p:sldId id="302" r:id="rId44"/>
    <p:sldId id="300" r:id="rId45"/>
    <p:sldId id="301" r:id="rId46"/>
    <p:sldId id="303" r:id="rId47"/>
    <p:sldId id="304" r:id="rId48"/>
    <p:sldId id="305" r:id="rId49"/>
    <p:sldId id="306" r:id="rId50"/>
    <p:sldId id="307" r:id="rId51"/>
    <p:sldId id="308" r:id="rId52"/>
    <p:sldId id="309" r:id="rId53"/>
    <p:sldId id="310" r:id="rId54"/>
    <p:sldId id="311"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2BB822-7FD6-46D2-9A13-EC67E2C85C20}">
          <p14:sldIdLst>
            <p14:sldId id="257"/>
            <p14:sldId id="258"/>
            <p14:sldId id="259"/>
            <p14:sldId id="260"/>
            <p14:sldId id="261"/>
            <p14:sldId id="263"/>
            <p14:sldId id="262"/>
            <p14:sldId id="264"/>
            <p14:sldId id="265"/>
            <p14:sldId id="267"/>
            <p14:sldId id="266"/>
            <p14:sldId id="268"/>
            <p14:sldId id="269"/>
            <p14:sldId id="270"/>
            <p14:sldId id="274"/>
            <p14:sldId id="271"/>
            <p14:sldId id="272"/>
            <p14:sldId id="273"/>
            <p14:sldId id="275"/>
            <p14:sldId id="279"/>
            <p14:sldId id="276"/>
            <p14:sldId id="277"/>
            <p14:sldId id="280"/>
            <p14:sldId id="278"/>
            <p14:sldId id="289"/>
            <p14:sldId id="282"/>
            <p14:sldId id="283"/>
            <p14:sldId id="284"/>
            <p14:sldId id="285"/>
            <p14:sldId id="286"/>
            <p14:sldId id="290"/>
            <p14:sldId id="287"/>
            <p14:sldId id="288"/>
            <p14:sldId id="291"/>
            <p14:sldId id="295"/>
            <p14:sldId id="292"/>
            <p14:sldId id="296"/>
            <p14:sldId id="293"/>
            <p14:sldId id="294"/>
            <p14:sldId id="297"/>
            <p14:sldId id="298"/>
            <p14:sldId id="299"/>
            <p14:sldId id="302"/>
            <p14:sldId id="300"/>
            <p14:sldId id="301"/>
            <p14:sldId id="303"/>
            <p14:sldId id="304"/>
            <p14:sldId id="305"/>
            <p14:sldId id="306"/>
            <p14:sldId id="307"/>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snapToGrid="0">
      <p:cViewPr varScale="1">
        <p:scale>
          <a:sx n="92" d="100"/>
          <a:sy n="92"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068F6E-AAF0-4615-A674-1785CE1ADF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413E7A9-D79E-49E5-AD98-69BB8068B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09C7C28-F5E9-4EC2-A4C4-3F99266C43AF}"/>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5" name="Footer Placeholder 4">
            <a:extLst>
              <a:ext uri="{FF2B5EF4-FFF2-40B4-BE49-F238E27FC236}">
                <a16:creationId xmlns:a16="http://schemas.microsoft.com/office/drawing/2014/main" xmlns="" id="{1019EEE0-6064-4D88-9082-59A9DEA8B3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56DBC63-D108-4087-9C85-F558FFA11995}"/>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392757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48CC5E-7D03-42F3-BB04-4657C31077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5CCE741-DA46-4679-A710-2F6449741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F811EA1-5AD9-49A8-9BC3-00B82791C727}"/>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5" name="Footer Placeholder 4">
            <a:extLst>
              <a:ext uri="{FF2B5EF4-FFF2-40B4-BE49-F238E27FC236}">
                <a16:creationId xmlns:a16="http://schemas.microsoft.com/office/drawing/2014/main" xmlns="" id="{22497968-9A3F-4F13-9640-FBFB16072F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C52602F-413A-4918-AE9B-82FCE2C45BE1}"/>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259242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64035F-D83A-4CEA-8DF0-2DCE78C5EF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D1D6273-C8FD-4932-A83D-93AC40E56E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6FD107E-45A6-489D-851E-0A5EC1867810}"/>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5" name="Footer Placeholder 4">
            <a:extLst>
              <a:ext uri="{FF2B5EF4-FFF2-40B4-BE49-F238E27FC236}">
                <a16:creationId xmlns:a16="http://schemas.microsoft.com/office/drawing/2014/main" xmlns="" id="{2EF596C8-3A3C-4297-AE04-92B9BD35E5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11AB8C4-CB28-4B24-866C-636F94810682}"/>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2407489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E64186-8363-4573-B0F2-2BFD1FBADD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B648104-72D8-4D3E-BFE7-99BF19D25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6CE198A8-98A5-4042-97CC-0126ED97D6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9973DF5A-B7A3-4208-B171-01F43CFF743E}"/>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6" name="Footer Placeholder 5">
            <a:extLst>
              <a:ext uri="{FF2B5EF4-FFF2-40B4-BE49-F238E27FC236}">
                <a16:creationId xmlns:a16="http://schemas.microsoft.com/office/drawing/2014/main" xmlns="" id="{DE3BF1D4-9766-4349-BD28-663B8E3FC9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F6369CB-8503-4A76-AAAC-F326D2468A18}"/>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2700555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804342-1496-4946-9A4C-245945287D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96E85A4-88FA-41F8-BF4C-D550C49EA7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5A7457B-2353-4079-A830-FBF814863E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2C56F3F-9FDE-4741-A00E-B1097B265B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001A5469-8E6B-4B5E-B889-37565A09C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58CF8D6-43F3-4C6D-A1E8-718C7A07E266}"/>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8" name="Footer Placeholder 7">
            <a:extLst>
              <a:ext uri="{FF2B5EF4-FFF2-40B4-BE49-F238E27FC236}">
                <a16:creationId xmlns:a16="http://schemas.microsoft.com/office/drawing/2014/main" xmlns="" id="{08686D57-14A1-4CE2-9E48-FB7BAAF724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956176D6-63BE-4F53-BFD2-786F6145B73C}"/>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4057474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A2987C-C658-431B-B7CA-59CEB0E4D9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1FC7CE07-7600-47C5-8457-D1C541D6AD5B}"/>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4" name="Footer Placeholder 3">
            <a:extLst>
              <a:ext uri="{FF2B5EF4-FFF2-40B4-BE49-F238E27FC236}">
                <a16:creationId xmlns:a16="http://schemas.microsoft.com/office/drawing/2014/main" xmlns="" id="{73AE8DB7-8F86-4310-B7A6-C55C3CB98E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AD00CBA2-5D5A-43D0-ABD6-E612A467B648}"/>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3833649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CB34C69-9729-4669-AA27-12C23BC54187}"/>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3" name="Footer Placeholder 2">
            <a:extLst>
              <a:ext uri="{FF2B5EF4-FFF2-40B4-BE49-F238E27FC236}">
                <a16:creationId xmlns:a16="http://schemas.microsoft.com/office/drawing/2014/main" xmlns="" id="{9C1818B8-CDB0-4C3A-AAE0-36F39FCDC3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C75323F7-FFDC-495F-960C-9414DC1403C1}"/>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1278557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25D6E4-3B89-4E2E-BBE8-A55A978ABC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12519AE-260D-4F44-919A-196273CF01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54080783-D128-4966-B157-4B5F19C79F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0CA152D-C28F-42AB-906E-2B8E2BACA40C}"/>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6" name="Footer Placeholder 5">
            <a:extLst>
              <a:ext uri="{FF2B5EF4-FFF2-40B4-BE49-F238E27FC236}">
                <a16:creationId xmlns:a16="http://schemas.microsoft.com/office/drawing/2014/main" xmlns="" id="{6F83C320-D8EC-4076-8999-704A5A64D9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BEC9331-B610-4D5F-94AB-FF976A853A52}"/>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586633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EF9AEB-F508-4371-B9E9-336C51B132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7B28D0C9-3E67-481E-B876-6F8C14775E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3E6A4E00-9BEE-4264-A734-13D8C169F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E6376EE-6577-4EA2-975F-4013B7FAC3B7}"/>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6" name="Footer Placeholder 5">
            <a:extLst>
              <a:ext uri="{FF2B5EF4-FFF2-40B4-BE49-F238E27FC236}">
                <a16:creationId xmlns:a16="http://schemas.microsoft.com/office/drawing/2014/main" xmlns="" id="{4227FD63-77D6-4BB2-A461-5372BC183C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587A2A3-DAD4-4A9B-990A-07093C4FD0C4}"/>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1011856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196ED0-E0B9-43A8-B456-679ACF89DC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4629220-7D90-472F-819E-F78BFED3B1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34E69A7-8E6F-4CE4-B6BB-F922881C34D6}"/>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5" name="Footer Placeholder 4">
            <a:extLst>
              <a:ext uri="{FF2B5EF4-FFF2-40B4-BE49-F238E27FC236}">
                <a16:creationId xmlns:a16="http://schemas.microsoft.com/office/drawing/2014/main" xmlns="" id="{B717BE56-6191-4254-BC68-15FD5D685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9244E77-A4E7-4EFA-B00F-0074D8B34E59}"/>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2638844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DD8BBCB-9060-492D-8382-0501799C17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D61C475-285A-48F3-88D9-016BC89AC2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868E132-EDA0-4D80-A881-6221DAC414E6}"/>
              </a:ext>
            </a:extLst>
          </p:cNvPr>
          <p:cNvSpPr>
            <a:spLocks noGrp="1"/>
          </p:cNvSpPr>
          <p:nvPr>
            <p:ph type="dt" sz="half" idx="10"/>
          </p:nvPr>
        </p:nvSpPr>
        <p:spPr/>
        <p:txBody>
          <a:bodyPr/>
          <a:lstStyle/>
          <a:p>
            <a:fld id="{335546BC-B19E-437E-BF80-A4FB2C3F6420}" type="datetimeFigureOut">
              <a:rPr lang="en-IN" smtClean="0"/>
              <a:t>13-10-2025</a:t>
            </a:fld>
            <a:endParaRPr lang="en-IN"/>
          </a:p>
        </p:txBody>
      </p:sp>
      <p:sp>
        <p:nvSpPr>
          <p:cNvPr id="5" name="Footer Placeholder 4">
            <a:extLst>
              <a:ext uri="{FF2B5EF4-FFF2-40B4-BE49-F238E27FC236}">
                <a16:creationId xmlns:a16="http://schemas.microsoft.com/office/drawing/2014/main" xmlns="" id="{DA4FE4A6-3F41-4C6F-A0EF-9393D23B8E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0FAD1C7-EF07-4E50-82B4-ED57E84FFECD}"/>
              </a:ext>
            </a:extLst>
          </p:cNvPr>
          <p:cNvSpPr>
            <a:spLocks noGrp="1"/>
          </p:cNvSpPr>
          <p:nvPr>
            <p:ph type="sldNum" sz="quarter" idx="12"/>
          </p:nvPr>
        </p:nvSpPr>
        <p:spPr/>
        <p:txBody>
          <a:bodyPr/>
          <a:lstStyle/>
          <a:p>
            <a:fld id="{FD952CDB-6AC9-4137-A2F9-F6A86B741B70}" type="slidenum">
              <a:rPr lang="en-IN" smtClean="0"/>
              <a:t>‹#›</a:t>
            </a:fld>
            <a:endParaRPr lang="en-IN"/>
          </a:p>
        </p:txBody>
      </p:sp>
    </p:spTree>
    <p:extLst>
      <p:ext uri="{BB962C8B-B14F-4D97-AF65-F5344CB8AC3E}">
        <p14:creationId xmlns:p14="http://schemas.microsoft.com/office/powerpoint/2010/main" val="2186727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3D28E99-CF2D-4F27-97F5-F55B2EA48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B514DB3-BC69-4C1D-9A19-3DD6D4030D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38F81B7-2169-4873-9B45-14817120B6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5546BC-B19E-437E-BF80-A4FB2C3F6420}" type="datetimeFigureOut">
              <a:rPr lang="en-IN" smtClean="0"/>
              <a:t>13-10-2025</a:t>
            </a:fld>
            <a:endParaRPr lang="en-IN"/>
          </a:p>
        </p:txBody>
      </p:sp>
      <p:sp>
        <p:nvSpPr>
          <p:cNvPr id="5" name="Footer Placeholder 4">
            <a:extLst>
              <a:ext uri="{FF2B5EF4-FFF2-40B4-BE49-F238E27FC236}">
                <a16:creationId xmlns:a16="http://schemas.microsoft.com/office/drawing/2014/main" xmlns="" id="{E86A8340-06F3-4DD1-98D1-6450D7E2A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F0CC2AF5-7395-4196-AD3F-1C4B45ED09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52CDB-6AC9-4137-A2F9-F6A86B741B70}" type="slidenum">
              <a:rPr lang="en-IN" smtClean="0"/>
              <a:t>‹#›</a:t>
            </a:fld>
            <a:endParaRPr lang="en-IN"/>
          </a:p>
        </p:txBody>
      </p:sp>
    </p:spTree>
    <p:extLst>
      <p:ext uri="{BB962C8B-B14F-4D97-AF65-F5344CB8AC3E}">
        <p14:creationId xmlns:p14="http://schemas.microsoft.com/office/powerpoint/2010/main" val="138213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xmlns="" id="{ADF25B3A-2D7A-4481-B0A6-42D75B3C6B47}"/>
              </a:ext>
            </a:extLst>
          </p:cNvPr>
          <p:cNvSpPr>
            <a:spLocks noGrp="1"/>
          </p:cNvSpPr>
          <p:nvPr>
            <p:ph type="ctrTitle"/>
          </p:nvPr>
        </p:nvSpPr>
        <p:spPr>
          <a:xfrm>
            <a:off x="2209800" y="476251"/>
            <a:ext cx="7772400" cy="1801813"/>
          </a:xfrm>
        </p:spPr>
        <p:txBody>
          <a:bodyPr/>
          <a:lstStyle/>
          <a:p>
            <a:pPr>
              <a:spcBef>
                <a:spcPts val="1200"/>
              </a:spcBef>
              <a:tabLst>
                <a:tab pos="2865438" algn="ctr"/>
                <a:tab pos="4908550" algn="l"/>
              </a:tabLst>
            </a:pPr>
            <a:r>
              <a:rPr lang="en-US" altLang="en-US" sz="3600" b="1" dirty="0">
                <a:solidFill>
                  <a:srgbClr val="C00000"/>
                </a:solidFill>
                <a:latin typeface="Arial" panose="020B0604020202020204" pitchFamily="34" charset="0"/>
                <a:ea typeface="Times New Roman" panose="02020603050405020304" pitchFamily="18" charset="0"/>
                <a:cs typeface="Arial" panose="020B0604020202020204" pitchFamily="34" charset="0"/>
              </a:rPr>
              <a:t>Management </a:t>
            </a:r>
            <a:br>
              <a:rPr lang="en-US" altLang="en-US" sz="3600" b="1" dirty="0">
                <a:solidFill>
                  <a:srgbClr val="C00000"/>
                </a:solidFill>
                <a:latin typeface="Arial" panose="020B0604020202020204" pitchFamily="34" charset="0"/>
                <a:ea typeface="Times New Roman" panose="02020603050405020304" pitchFamily="18" charset="0"/>
                <a:cs typeface="Arial" panose="020B0604020202020204" pitchFamily="34" charset="0"/>
              </a:rPr>
            </a:br>
            <a:r>
              <a:rPr lang="en-US" altLang="en-US" sz="2800" dirty="0">
                <a:solidFill>
                  <a:srgbClr val="C00000"/>
                </a:solidFill>
                <a:latin typeface="Arial" panose="020B0604020202020204" pitchFamily="34" charset="0"/>
                <a:ea typeface="Times New Roman" panose="02020603050405020304" pitchFamily="18" charset="0"/>
                <a:cs typeface="Arial" panose="020B0604020202020204" pitchFamily="34" charset="0"/>
              </a:rPr>
              <a:t>&amp;</a:t>
            </a:r>
            <a:r>
              <a:rPr lang="en-US" altLang="en-US" sz="3600" b="1" dirty="0">
                <a:solidFill>
                  <a:srgbClr val="C00000"/>
                </a:solidFill>
                <a:latin typeface="Arial" panose="020B0604020202020204" pitchFamily="34" charset="0"/>
                <a:ea typeface="Times New Roman" panose="02020603050405020304" pitchFamily="18" charset="0"/>
                <a:cs typeface="Arial" panose="020B0604020202020204" pitchFamily="34" charset="0"/>
              </a:rPr>
              <a:t> </a:t>
            </a:r>
            <a:br>
              <a:rPr lang="en-US" altLang="en-US" sz="3600" b="1" dirty="0">
                <a:solidFill>
                  <a:srgbClr val="C00000"/>
                </a:solidFill>
                <a:latin typeface="Arial" panose="020B0604020202020204" pitchFamily="34" charset="0"/>
                <a:ea typeface="Times New Roman" panose="02020603050405020304" pitchFamily="18" charset="0"/>
                <a:cs typeface="Arial" panose="020B0604020202020204" pitchFamily="34" charset="0"/>
              </a:rPr>
            </a:br>
            <a:r>
              <a:rPr lang="en-US" altLang="en-US" sz="3600" b="1" dirty="0">
                <a:solidFill>
                  <a:srgbClr val="C00000"/>
                </a:solidFill>
                <a:latin typeface="Arial" panose="020B0604020202020204" pitchFamily="34" charset="0"/>
                <a:ea typeface="Times New Roman" panose="02020603050405020304" pitchFamily="18" charset="0"/>
                <a:cs typeface="Arial" panose="020B0604020202020204" pitchFamily="34" charset="0"/>
              </a:rPr>
              <a:t>Entrepreneurship Development</a:t>
            </a:r>
            <a:endParaRPr lang="en-IN" altLang="en-US" sz="3600" dirty="0">
              <a:solidFill>
                <a:srgbClr val="C00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2051" name="Subtitle 2">
            <a:extLst>
              <a:ext uri="{FF2B5EF4-FFF2-40B4-BE49-F238E27FC236}">
                <a16:creationId xmlns:a16="http://schemas.microsoft.com/office/drawing/2014/main" xmlns="" id="{17486217-FD4F-49C2-A8CC-46AAA19FC614}"/>
              </a:ext>
            </a:extLst>
          </p:cNvPr>
          <p:cNvSpPr>
            <a:spLocks noGrp="1"/>
          </p:cNvSpPr>
          <p:nvPr>
            <p:ph type="subTitle" idx="1"/>
          </p:nvPr>
        </p:nvSpPr>
        <p:spPr>
          <a:xfrm>
            <a:off x="2865438" y="2987675"/>
            <a:ext cx="6400800" cy="647700"/>
          </a:xfrm>
        </p:spPr>
        <p:txBody>
          <a:bodyPr/>
          <a:lstStyle/>
          <a:p>
            <a:pPr eaLnBrk="1" hangingPunct="1">
              <a:buFont typeface="Arial" charset="0"/>
              <a:buNone/>
              <a:defRPr/>
            </a:pPr>
            <a:endParaRPr lang="en-IN" b="1" dirty="0">
              <a:solidFill>
                <a:schemeClr val="accent1">
                  <a:lumMod val="75000"/>
                </a:schemeClr>
              </a:solidFill>
            </a:endParaRPr>
          </a:p>
        </p:txBody>
      </p:sp>
      <p:sp>
        <p:nvSpPr>
          <p:cNvPr id="3" name="Rectangle 2">
            <a:extLst>
              <a:ext uri="{FF2B5EF4-FFF2-40B4-BE49-F238E27FC236}">
                <a16:creationId xmlns:a16="http://schemas.microsoft.com/office/drawing/2014/main" xmlns="" id="{AD2BC09D-3CD8-46CD-A593-6982FD9C07B5}"/>
              </a:ext>
            </a:extLst>
          </p:cNvPr>
          <p:cNvSpPr/>
          <p:nvPr/>
        </p:nvSpPr>
        <p:spPr>
          <a:xfrm>
            <a:off x="3779838" y="4437064"/>
            <a:ext cx="4572000" cy="803297"/>
          </a:xfrm>
          <a:prstGeom prst="rect">
            <a:avLst/>
          </a:prstGeom>
        </p:spPr>
        <p:txBody>
          <a:bodyPr>
            <a:spAutoFit/>
          </a:bodyPr>
          <a:lstStyle/>
          <a:p>
            <a:pPr algn="ctr">
              <a:spcBef>
                <a:spcPct val="20000"/>
              </a:spcBef>
              <a:defRPr/>
            </a:pPr>
            <a:r>
              <a:rPr lang="en-US" sz="2100" b="1" kern="0" dirty="0" smtClean="0">
                <a:solidFill>
                  <a:schemeClr val="bg2">
                    <a:lumMod val="25000"/>
                  </a:schemeClr>
                </a:solidFill>
              </a:rPr>
              <a:t>Dept</a:t>
            </a:r>
            <a:r>
              <a:rPr lang="en-US" sz="2100" b="1" kern="0" dirty="0">
                <a:solidFill>
                  <a:schemeClr val="bg2">
                    <a:lumMod val="25000"/>
                  </a:schemeClr>
                </a:solidFill>
              </a:rPr>
              <a:t>. of Mechanical Engineering,</a:t>
            </a:r>
          </a:p>
          <a:p>
            <a:pPr algn="ctr">
              <a:spcBef>
                <a:spcPct val="20000"/>
              </a:spcBef>
              <a:defRPr/>
            </a:pPr>
            <a:r>
              <a:rPr lang="en-US" sz="2100" b="1" kern="0" dirty="0">
                <a:solidFill>
                  <a:schemeClr val="bg2">
                    <a:lumMod val="25000"/>
                  </a:schemeClr>
                </a:solidFill>
              </a:rPr>
              <a:t>MCE, Hassan.</a:t>
            </a:r>
            <a:endParaRPr lang="en-IN" sz="2100" b="1" kern="0" dirty="0">
              <a:solidFill>
                <a:schemeClr val="bg2">
                  <a:lumMod val="2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526B52-E042-4A7D-BDE1-E3B3572FD220}"/>
              </a:ext>
            </a:extLst>
          </p:cNvPr>
          <p:cNvSpPr>
            <a:spLocks noGrp="1"/>
          </p:cNvSpPr>
          <p:nvPr>
            <p:ph type="ctrTitle"/>
          </p:nvPr>
        </p:nvSpPr>
        <p:spPr>
          <a:xfrm>
            <a:off x="1524000" y="1122362"/>
            <a:ext cx="8987161" cy="1780635"/>
          </a:xfrm>
        </p:spPr>
        <p:txBody>
          <a:bodyPr>
            <a:normAutofit fontScale="90000"/>
          </a:bodyPr>
          <a:lstStyle/>
          <a:p>
            <a:pPr>
              <a:lnSpc>
                <a:spcPct val="100000"/>
              </a:lnSpc>
            </a:pPr>
            <a:r>
              <a:rPr lang="en-US" b="1" dirty="0">
                <a:solidFill>
                  <a:srgbClr val="C00000"/>
                </a:solidFill>
                <a:effectLst/>
                <a:latin typeface="+mn-lt"/>
                <a:ea typeface="Times New Roman" panose="02020603050405020304" pitchFamily="18" charset="0"/>
              </a:rPr>
              <a:t>Organizing, Staffing, </a:t>
            </a:r>
            <a:br>
              <a:rPr lang="en-US" b="1" dirty="0">
                <a:solidFill>
                  <a:srgbClr val="C00000"/>
                </a:solidFill>
                <a:effectLst/>
                <a:latin typeface="+mn-lt"/>
                <a:ea typeface="Times New Roman" panose="02020603050405020304" pitchFamily="18" charset="0"/>
              </a:rPr>
            </a:br>
            <a:r>
              <a:rPr lang="en-US" b="1" dirty="0">
                <a:solidFill>
                  <a:srgbClr val="C00000"/>
                </a:solidFill>
                <a:effectLst/>
                <a:latin typeface="+mn-lt"/>
                <a:ea typeface="Times New Roman" panose="02020603050405020304" pitchFamily="18" charset="0"/>
              </a:rPr>
              <a:t>Directing &amp; Controlling</a:t>
            </a:r>
            <a:endParaRPr lang="en-IN" dirty="0">
              <a:solidFill>
                <a:srgbClr val="C00000"/>
              </a:solidFill>
              <a:latin typeface="+mn-lt"/>
            </a:endParaRPr>
          </a:p>
        </p:txBody>
      </p:sp>
      <p:sp>
        <p:nvSpPr>
          <p:cNvPr id="3" name="Subtitle 2">
            <a:extLst>
              <a:ext uri="{FF2B5EF4-FFF2-40B4-BE49-F238E27FC236}">
                <a16:creationId xmlns:a16="http://schemas.microsoft.com/office/drawing/2014/main" xmlns="" id="{DA0EC756-935E-4E8F-B875-40ACF7CAF7D5}"/>
              </a:ext>
            </a:extLst>
          </p:cNvPr>
          <p:cNvSpPr>
            <a:spLocks noGrp="1"/>
          </p:cNvSpPr>
          <p:nvPr>
            <p:ph type="subTitle" idx="1"/>
          </p:nvPr>
        </p:nvSpPr>
        <p:spPr>
          <a:xfrm>
            <a:off x="1524000" y="3826276"/>
            <a:ext cx="9144000" cy="1431524"/>
          </a:xfrm>
        </p:spPr>
        <p:txBody>
          <a:bodyPr>
            <a:normAutofit/>
          </a:bodyPr>
          <a:lstStyle/>
          <a:p>
            <a:r>
              <a:rPr lang="en-US" sz="4000" b="1" dirty="0">
                <a:solidFill>
                  <a:schemeClr val="accent1">
                    <a:lumMod val="75000"/>
                  </a:schemeClr>
                </a:solidFill>
              </a:rPr>
              <a:t>MODULE – 2</a:t>
            </a:r>
          </a:p>
          <a:p>
            <a:endParaRPr lang="en-IN" sz="4000" dirty="0">
              <a:solidFill>
                <a:schemeClr val="accent1">
                  <a:lumMod val="75000"/>
                </a:schemeClr>
              </a:solidFill>
            </a:endParaRPr>
          </a:p>
        </p:txBody>
      </p:sp>
    </p:spTree>
    <p:extLst>
      <p:ext uri="{BB962C8B-B14F-4D97-AF65-F5344CB8AC3E}">
        <p14:creationId xmlns:p14="http://schemas.microsoft.com/office/powerpoint/2010/main" val="1757844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4B195AE-E7D2-488B-B06D-62F8AC513032}"/>
              </a:ext>
            </a:extLst>
          </p:cNvPr>
          <p:cNvSpPr>
            <a:spLocks noGrp="1"/>
          </p:cNvSpPr>
          <p:nvPr>
            <p:ph idx="1"/>
          </p:nvPr>
        </p:nvSpPr>
        <p:spPr>
          <a:xfrm>
            <a:off x="838200" y="878889"/>
            <a:ext cx="10515600" cy="5298074"/>
          </a:xfrm>
        </p:spPr>
        <p:txBody>
          <a:bodyPr>
            <a:normAutofit/>
          </a:bodyPr>
          <a:lstStyle/>
          <a:p>
            <a:pPr marL="0" indent="0" algn="just">
              <a:lnSpc>
                <a:spcPct val="100000"/>
              </a:lnSpc>
              <a:buFont typeface="Arial" charset="0"/>
              <a:buNone/>
              <a:defRPr/>
            </a:pPr>
            <a:r>
              <a:rPr lang="en-US" b="1" dirty="0">
                <a:solidFill>
                  <a:schemeClr val="accent1">
                    <a:lumMod val="75000"/>
                  </a:schemeClr>
                </a:solidFill>
              </a:rPr>
              <a:t>CONTENT</a:t>
            </a:r>
          </a:p>
          <a:p>
            <a:pPr marL="0" indent="0" algn="just">
              <a:lnSpc>
                <a:spcPct val="100000"/>
              </a:lnSpc>
              <a:buFont typeface="Arial" charset="0"/>
              <a:buNone/>
              <a:defRPr/>
            </a:pPr>
            <a:r>
              <a:rPr lang="en-US" b="1" dirty="0">
                <a:solidFill>
                  <a:srgbClr val="000000"/>
                </a:solidFill>
                <a:effectLst/>
                <a:ea typeface="Times New Roman" panose="02020603050405020304" pitchFamily="18" charset="0"/>
              </a:rPr>
              <a:t>Organizing and Staffing:</a:t>
            </a:r>
            <a:r>
              <a:rPr lang="en-US" dirty="0">
                <a:solidFill>
                  <a:srgbClr val="000000"/>
                </a:solidFill>
                <a:effectLst/>
                <a:ea typeface="Times New Roman" panose="02020603050405020304" pitchFamily="18" charset="0"/>
              </a:rPr>
              <a:t> Nature and purpose of organization, principles of organization, types of organization, departmentation committees, centralization v/s decentralization of authority and responsibility, span of control, MBO and MBE (meaning only), nature and importance of staffing, process of selection &amp; recruitment (in brief). </a:t>
            </a:r>
          </a:p>
          <a:p>
            <a:pPr marL="0" indent="0" algn="just">
              <a:lnSpc>
                <a:spcPct val="100000"/>
              </a:lnSpc>
              <a:buFont typeface="Arial" charset="0"/>
              <a:buNone/>
              <a:defRPr/>
            </a:pPr>
            <a:r>
              <a:rPr lang="en-US" b="1" dirty="0">
                <a:solidFill>
                  <a:srgbClr val="000000"/>
                </a:solidFill>
                <a:effectLst/>
                <a:ea typeface="Times New Roman" panose="02020603050405020304" pitchFamily="18" charset="0"/>
              </a:rPr>
              <a:t>Directing &amp; Controlling:</a:t>
            </a:r>
            <a:r>
              <a:rPr lang="en-US" dirty="0">
                <a:solidFill>
                  <a:srgbClr val="000000"/>
                </a:solidFill>
                <a:effectLst/>
                <a:ea typeface="Times New Roman" panose="02020603050405020304" pitchFamily="18" charset="0"/>
              </a:rPr>
              <a:t> Meaning and nature of directing, leadership styles, motivation theories, communication: meaning and importance, coordination: meaning, importance and techniques. Meaning and steps in controlling, essentials of a sound control system, methods of establishing control. </a:t>
            </a:r>
            <a:endParaRPr lang="en-IN" dirty="0"/>
          </a:p>
        </p:txBody>
      </p:sp>
    </p:spTree>
    <p:extLst>
      <p:ext uri="{BB962C8B-B14F-4D97-AF65-F5344CB8AC3E}">
        <p14:creationId xmlns:p14="http://schemas.microsoft.com/office/powerpoint/2010/main" val="191918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5020C8C-C9A8-4B1C-B273-275C69AF2DE1}"/>
              </a:ext>
            </a:extLst>
          </p:cNvPr>
          <p:cNvSpPr>
            <a:spLocks noGrp="1"/>
          </p:cNvSpPr>
          <p:nvPr>
            <p:ph idx="1"/>
          </p:nvPr>
        </p:nvSpPr>
        <p:spPr>
          <a:xfrm>
            <a:off x="1681579" y="1864311"/>
            <a:ext cx="8953870" cy="5431239"/>
          </a:xfrm>
        </p:spPr>
        <p:txBody>
          <a:bodyPr>
            <a:normAutofit/>
          </a:bodyPr>
          <a:lstStyle/>
          <a:p>
            <a:pPr marL="0" indent="0">
              <a:lnSpc>
                <a:spcPct val="100000"/>
              </a:lnSpc>
              <a:buFont typeface="Arial" charset="0"/>
              <a:buNone/>
              <a:defRPr/>
            </a:pPr>
            <a:r>
              <a:rPr lang="en-US" b="1" dirty="0">
                <a:solidFill>
                  <a:srgbClr val="0070C0"/>
                </a:solidFill>
              </a:rPr>
              <a:t>Objective:</a:t>
            </a:r>
            <a:endParaRPr lang="en-US" b="1" dirty="0"/>
          </a:p>
          <a:p>
            <a:pPr marL="0" indent="0">
              <a:lnSpc>
                <a:spcPct val="100000"/>
              </a:lnSpc>
              <a:buFont typeface="Arial" charset="0"/>
              <a:buNone/>
              <a:defRPr/>
            </a:pPr>
            <a:r>
              <a:rPr lang="en-US" dirty="0"/>
              <a:t>Upon completion of this module, students shall be able to </a:t>
            </a:r>
            <a:r>
              <a:rPr lang="en-US" dirty="0">
                <a:solidFill>
                  <a:srgbClr val="000000"/>
                </a:solidFill>
                <a:effectLst/>
                <a:ea typeface="Times New Roman" panose="02020603050405020304" pitchFamily="18" charset="0"/>
              </a:rPr>
              <a:t>apply the conceptual knowledge of organizing, staffing, directing and controlling while making decisions.</a:t>
            </a:r>
            <a:endParaRPr lang="en-US" dirty="0">
              <a:ea typeface="Times New Roman" panose="02020603050405020304" pitchFamily="18" charset="0"/>
              <a:cs typeface="Arial" panose="020B0604020202020204" pitchFamily="34" charset="0"/>
            </a:endParaRPr>
          </a:p>
          <a:p>
            <a:pPr marL="0" indent="0">
              <a:lnSpc>
                <a:spcPct val="100000"/>
              </a:lnSpc>
              <a:buNone/>
            </a:pPr>
            <a:endParaRPr lang="en-IN" dirty="0"/>
          </a:p>
        </p:txBody>
      </p:sp>
    </p:spTree>
    <p:extLst>
      <p:ext uri="{BB962C8B-B14F-4D97-AF65-F5344CB8AC3E}">
        <p14:creationId xmlns:p14="http://schemas.microsoft.com/office/powerpoint/2010/main" val="2944293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C8F3B9-4433-4348-87C8-BB0BD7BECBBB}"/>
              </a:ext>
            </a:extLst>
          </p:cNvPr>
          <p:cNvSpPr>
            <a:spLocks noGrp="1"/>
          </p:cNvSpPr>
          <p:nvPr>
            <p:ph type="title"/>
          </p:nvPr>
        </p:nvSpPr>
        <p:spPr>
          <a:xfrm>
            <a:off x="838200" y="365125"/>
            <a:ext cx="10515600" cy="797850"/>
          </a:xfrm>
        </p:spPr>
        <p:txBody>
          <a:bodyPr>
            <a:normAutofit/>
          </a:bodyPr>
          <a:lstStyle/>
          <a:p>
            <a:r>
              <a:rPr lang="en-IN" sz="3600" b="1" i="0" dirty="0">
                <a:solidFill>
                  <a:srgbClr val="C00000"/>
                </a:solidFill>
                <a:effectLst/>
                <a:latin typeface="Arial" panose="020B0604020202020204" pitchFamily="34" charset="0"/>
              </a:rPr>
              <a:t>Organisation Definition</a:t>
            </a:r>
            <a:r>
              <a:rPr lang="en-IN" sz="3600" dirty="0">
                <a:solidFill>
                  <a:srgbClr val="C00000"/>
                </a:solidFill>
              </a:rPr>
              <a:t> </a:t>
            </a:r>
          </a:p>
        </p:txBody>
      </p:sp>
      <p:sp>
        <p:nvSpPr>
          <p:cNvPr id="3" name="Content Placeholder 2">
            <a:extLst>
              <a:ext uri="{FF2B5EF4-FFF2-40B4-BE49-F238E27FC236}">
                <a16:creationId xmlns:a16="http://schemas.microsoft.com/office/drawing/2014/main" xmlns="" id="{095B55EF-1FAC-4C59-9D73-04D91BB26AEB}"/>
              </a:ext>
            </a:extLst>
          </p:cNvPr>
          <p:cNvSpPr>
            <a:spLocks noGrp="1"/>
          </p:cNvSpPr>
          <p:nvPr>
            <p:ph idx="1"/>
          </p:nvPr>
        </p:nvSpPr>
        <p:spPr>
          <a:xfrm>
            <a:off x="696157" y="1225119"/>
            <a:ext cx="10515600" cy="5013988"/>
          </a:xfrm>
        </p:spPr>
        <p:txBody>
          <a:bodyPr>
            <a:normAutofit/>
          </a:bodyPr>
          <a:lstStyle/>
          <a:p>
            <a:pPr>
              <a:lnSpc>
                <a:spcPct val="100000"/>
              </a:lnSpc>
            </a:pPr>
            <a:r>
              <a:rPr lang="en-US" b="0" dirty="0">
                <a:solidFill>
                  <a:srgbClr val="000000"/>
                </a:solidFill>
                <a:effectLst/>
              </a:rPr>
              <a:t>An </a:t>
            </a:r>
            <a:r>
              <a:rPr lang="en-US" b="0" dirty="0" err="1">
                <a:solidFill>
                  <a:srgbClr val="000000"/>
                </a:solidFill>
                <a:effectLst/>
              </a:rPr>
              <a:t>organisation</a:t>
            </a:r>
            <a:r>
              <a:rPr lang="en-US" b="0" dirty="0">
                <a:solidFill>
                  <a:srgbClr val="000000"/>
                </a:solidFill>
                <a:effectLst/>
              </a:rPr>
              <a:t> is a social unit or human grouping deliberately structured for the purpose of attaining specific goals. </a:t>
            </a:r>
          </a:p>
          <a:p>
            <a:pPr algn="r">
              <a:lnSpc>
                <a:spcPct val="100000"/>
              </a:lnSpc>
              <a:buFontTx/>
              <a:buChar char="-"/>
            </a:pPr>
            <a:r>
              <a:rPr lang="en-US" dirty="0" err="1">
                <a:solidFill>
                  <a:schemeClr val="accent1">
                    <a:lumMod val="75000"/>
                  </a:schemeClr>
                </a:solidFill>
                <a:effectLst/>
              </a:rPr>
              <a:t>Amitai</a:t>
            </a:r>
            <a:r>
              <a:rPr lang="en-US" dirty="0">
                <a:solidFill>
                  <a:schemeClr val="accent1">
                    <a:lumMod val="75000"/>
                  </a:schemeClr>
                </a:solidFill>
                <a:effectLst/>
              </a:rPr>
              <a:t> Etzioni </a:t>
            </a:r>
          </a:p>
          <a:p>
            <a:pPr algn="ctr">
              <a:lnSpc>
                <a:spcPct val="100000"/>
              </a:lnSpc>
              <a:buFontTx/>
              <a:buChar char="-"/>
            </a:pPr>
            <a:endParaRPr lang="en-US" dirty="0">
              <a:solidFill>
                <a:schemeClr val="accent1">
                  <a:lumMod val="75000"/>
                </a:schemeClr>
              </a:solidFill>
              <a:effectLst/>
            </a:endParaRPr>
          </a:p>
          <a:p>
            <a:pPr>
              <a:lnSpc>
                <a:spcPct val="100000"/>
              </a:lnSpc>
            </a:pPr>
            <a:r>
              <a:rPr lang="en-US" b="0" dirty="0">
                <a:solidFill>
                  <a:srgbClr val="000000"/>
                </a:solidFill>
                <a:effectLst/>
              </a:rPr>
              <a:t>The rational coordination of the activities of a number of people for the achievement of some common explicit purpose or goal, through division of </a:t>
            </a:r>
            <a:r>
              <a:rPr lang="en-US" b="0" dirty="0" err="1">
                <a:solidFill>
                  <a:srgbClr val="000000"/>
                </a:solidFill>
                <a:effectLst/>
              </a:rPr>
              <a:t>labour</a:t>
            </a:r>
            <a:r>
              <a:rPr lang="en-US" b="0" dirty="0">
                <a:solidFill>
                  <a:srgbClr val="000000"/>
                </a:solidFill>
                <a:effectLst/>
              </a:rPr>
              <a:t> and function, and through a hierarchy of authority and responsibility. </a:t>
            </a:r>
          </a:p>
          <a:p>
            <a:pPr marL="0" indent="0" algn="r">
              <a:lnSpc>
                <a:spcPct val="100000"/>
              </a:lnSpc>
              <a:buNone/>
            </a:pPr>
            <a:r>
              <a:rPr lang="en-US" b="0" dirty="0">
                <a:solidFill>
                  <a:schemeClr val="accent1">
                    <a:lumMod val="75000"/>
                  </a:schemeClr>
                </a:solidFill>
                <a:effectLst/>
              </a:rPr>
              <a:t>– </a:t>
            </a:r>
            <a:r>
              <a:rPr lang="en-US" b="0" dirty="0" err="1">
                <a:solidFill>
                  <a:schemeClr val="accent1">
                    <a:lumMod val="75000"/>
                  </a:schemeClr>
                </a:solidFill>
                <a:effectLst/>
              </a:rPr>
              <a:t>Sehein</a:t>
            </a:r>
            <a:endParaRPr lang="en-US" dirty="0">
              <a:solidFill>
                <a:schemeClr val="accent1">
                  <a:lumMod val="75000"/>
                </a:schemeClr>
              </a:solidFill>
            </a:endParaRPr>
          </a:p>
        </p:txBody>
      </p:sp>
    </p:spTree>
    <p:extLst>
      <p:ext uri="{BB962C8B-B14F-4D97-AF65-F5344CB8AC3E}">
        <p14:creationId xmlns:p14="http://schemas.microsoft.com/office/powerpoint/2010/main" val="2144032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DA7DFB4-3132-4CBC-8A75-7625A9478D5B}"/>
              </a:ext>
            </a:extLst>
          </p:cNvPr>
          <p:cNvSpPr>
            <a:spLocks noGrp="1"/>
          </p:cNvSpPr>
          <p:nvPr>
            <p:ph idx="1"/>
          </p:nvPr>
        </p:nvSpPr>
        <p:spPr>
          <a:xfrm>
            <a:off x="767178" y="513633"/>
            <a:ext cx="10515600" cy="5830734"/>
          </a:xfrm>
        </p:spPr>
        <p:txBody>
          <a:bodyPr/>
          <a:lstStyle/>
          <a:p>
            <a:pPr>
              <a:lnSpc>
                <a:spcPct val="100000"/>
              </a:lnSpc>
            </a:pPr>
            <a:r>
              <a:rPr lang="en-US" b="0" dirty="0">
                <a:solidFill>
                  <a:srgbClr val="000000"/>
                </a:solidFill>
                <a:effectLst/>
              </a:rPr>
              <a:t>The process of identifying and grouping of the work to be performed, defining and delegating responsibility and authority and establishing relationships for the purpose of enabling people to work most effectively together in accomplishing their objectives. </a:t>
            </a:r>
          </a:p>
          <a:p>
            <a:pPr marL="0" indent="0" algn="r">
              <a:lnSpc>
                <a:spcPct val="100000"/>
              </a:lnSpc>
              <a:buNone/>
            </a:pPr>
            <a:r>
              <a:rPr lang="en-US" b="0" dirty="0">
                <a:solidFill>
                  <a:schemeClr val="accent1">
                    <a:lumMod val="75000"/>
                  </a:schemeClr>
                </a:solidFill>
                <a:effectLst/>
              </a:rPr>
              <a:t>– Allen </a:t>
            </a:r>
          </a:p>
          <a:p>
            <a:pPr marL="0" indent="0">
              <a:lnSpc>
                <a:spcPct val="100000"/>
              </a:lnSpc>
              <a:buNone/>
            </a:pPr>
            <a:endParaRPr lang="en-IN" dirty="0">
              <a:solidFill>
                <a:schemeClr val="accent1">
                  <a:lumMod val="75000"/>
                </a:schemeClr>
              </a:solidFill>
            </a:endParaRPr>
          </a:p>
          <a:p>
            <a:pPr>
              <a:lnSpc>
                <a:spcPct val="100000"/>
              </a:lnSpc>
            </a:pPr>
            <a:r>
              <a:rPr lang="en-US" b="0" dirty="0">
                <a:solidFill>
                  <a:srgbClr val="000000"/>
                </a:solidFill>
                <a:effectLst/>
              </a:rPr>
              <a:t>An </a:t>
            </a:r>
            <a:r>
              <a:rPr lang="en-US" b="0" dirty="0" err="1">
                <a:solidFill>
                  <a:srgbClr val="000000"/>
                </a:solidFill>
                <a:effectLst/>
              </a:rPr>
              <a:t>organisation</a:t>
            </a:r>
            <a:r>
              <a:rPr lang="en-US" b="0" dirty="0">
                <a:solidFill>
                  <a:srgbClr val="000000"/>
                </a:solidFill>
                <a:effectLst/>
              </a:rPr>
              <a:t> is the pattern of ways in which large number of people, too many to have intimate face to face contact with all others, and engaged in a complexity of tasks, relate themselves to each other in the conscious, systematic establishment and accomplishment of mutually agreed purposes.</a:t>
            </a:r>
            <a:r>
              <a:rPr lang="en-US" dirty="0"/>
              <a:t> </a:t>
            </a:r>
          </a:p>
          <a:p>
            <a:pPr marL="0" indent="0" algn="r">
              <a:lnSpc>
                <a:spcPct val="100000"/>
              </a:lnSpc>
              <a:buNone/>
            </a:pPr>
            <a:r>
              <a:rPr lang="en-US" b="0" dirty="0">
                <a:solidFill>
                  <a:schemeClr val="accent1">
                    <a:lumMod val="75000"/>
                  </a:schemeClr>
                </a:solidFill>
                <a:effectLst/>
              </a:rPr>
              <a:t>- </a:t>
            </a:r>
            <a:r>
              <a:rPr lang="en-US" b="0" dirty="0" err="1">
                <a:solidFill>
                  <a:schemeClr val="accent1">
                    <a:lumMod val="75000"/>
                  </a:schemeClr>
                </a:solidFill>
                <a:effectLst/>
              </a:rPr>
              <a:t>Pfiffner</a:t>
            </a:r>
            <a:r>
              <a:rPr lang="en-US" b="0" dirty="0">
                <a:solidFill>
                  <a:schemeClr val="accent1">
                    <a:lumMod val="75000"/>
                  </a:schemeClr>
                </a:solidFill>
                <a:effectLst/>
              </a:rPr>
              <a:t> &amp; Sherwood</a:t>
            </a:r>
            <a:endParaRPr lang="en-IN" dirty="0">
              <a:solidFill>
                <a:schemeClr val="accent1">
                  <a:lumMod val="75000"/>
                </a:schemeClr>
              </a:solidFill>
            </a:endParaRPr>
          </a:p>
          <a:p>
            <a:pPr>
              <a:lnSpc>
                <a:spcPct val="100000"/>
              </a:lnSpc>
            </a:pPr>
            <a:endParaRPr lang="en-IN" dirty="0"/>
          </a:p>
        </p:txBody>
      </p:sp>
    </p:spTree>
    <p:extLst>
      <p:ext uri="{BB962C8B-B14F-4D97-AF65-F5344CB8AC3E}">
        <p14:creationId xmlns:p14="http://schemas.microsoft.com/office/powerpoint/2010/main" val="380901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9937940-36FF-486A-86D7-CD59C4F1183C}"/>
              </a:ext>
            </a:extLst>
          </p:cNvPr>
          <p:cNvSpPr>
            <a:spLocks noGrp="1"/>
          </p:cNvSpPr>
          <p:nvPr>
            <p:ph idx="1"/>
          </p:nvPr>
        </p:nvSpPr>
        <p:spPr>
          <a:xfrm>
            <a:off x="838200" y="381740"/>
            <a:ext cx="10515600" cy="5795223"/>
          </a:xfrm>
        </p:spPr>
        <p:txBody>
          <a:bodyPr>
            <a:normAutofit fontScale="92500" lnSpcReduction="10000"/>
          </a:bodyPr>
          <a:lstStyle/>
          <a:p>
            <a:pPr marL="0" indent="0">
              <a:lnSpc>
                <a:spcPct val="100000"/>
              </a:lnSpc>
              <a:buNone/>
            </a:pPr>
            <a:r>
              <a:rPr lang="en-IN" sz="3900" b="1" i="0" dirty="0">
                <a:solidFill>
                  <a:srgbClr val="C00000"/>
                </a:solidFill>
                <a:effectLst/>
              </a:rPr>
              <a:t>Characteristics of an Organisation</a:t>
            </a:r>
            <a:r>
              <a:rPr lang="en-IN" sz="3900" dirty="0">
                <a:solidFill>
                  <a:srgbClr val="C00000"/>
                </a:solidFill>
              </a:rPr>
              <a:t> </a:t>
            </a:r>
          </a:p>
          <a:p>
            <a:pPr marL="0" indent="0">
              <a:lnSpc>
                <a:spcPct val="100000"/>
              </a:lnSpc>
              <a:buNone/>
            </a:pPr>
            <a:endParaRPr lang="en-US" b="0" i="0" dirty="0">
              <a:solidFill>
                <a:srgbClr val="FF0000"/>
              </a:solidFill>
              <a:effectLst/>
            </a:endParaRPr>
          </a:p>
          <a:p>
            <a:pPr marL="0" indent="0">
              <a:lnSpc>
                <a:spcPct val="120000"/>
              </a:lnSpc>
              <a:buNone/>
            </a:pPr>
            <a:r>
              <a:rPr lang="en-US" sz="3000" b="0" i="0" dirty="0">
                <a:solidFill>
                  <a:srgbClr val="FF0000"/>
                </a:solidFill>
                <a:effectLst/>
              </a:rPr>
              <a:t>Every </a:t>
            </a:r>
            <a:r>
              <a:rPr lang="en-US" sz="3000" b="0" i="0" dirty="0" err="1">
                <a:solidFill>
                  <a:srgbClr val="FF0000"/>
                </a:solidFill>
                <a:effectLst/>
              </a:rPr>
              <a:t>organisation</a:t>
            </a:r>
            <a:r>
              <a:rPr lang="en-US" sz="3000" b="0" i="0" dirty="0">
                <a:solidFill>
                  <a:srgbClr val="FF0000"/>
                </a:solidFill>
                <a:effectLst/>
              </a:rPr>
              <a:t> has:</a:t>
            </a:r>
          </a:p>
          <a:p>
            <a:pPr marL="514350" indent="-514350">
              <a:lnSpc>
                <a:spcPct val="120000"/>
              </a:lnSpc>
              <a:buFont typeface="+mj-lt"/>
              <a:buAutoNum type="arabicPeriod"/>
            </a:pPr>
            <a:r>
              <a:rPr lang="en-US" sz="3000" b="0" i="0" dirty="0">
                <a:solidFill>
                  <a:srgbClr val="000000"/>
                </a:solidFill>
                <a:effectLst/>
              </a:rPr>
              <a:t>a purpose, goal or goals</a:t>
            </a:r>
          </a:p>
          <a:p>
            <a:pPr marL="514350" indent="-514350">
              <a:lnSpc>
                <a:spcPct val="120000"/>
              </a:lnSpc>
              <a:buFont typeface="+mj-lt"/>
              <a:buAutoNum type="arabicPeriod"/>
            </a:pPr>
            <a:r>
              <a:rPr lang="en-US" sz="3000" b="0" i="0" dirty="0">
                <a:solidFill>
                  <a:srgbClr val="000000"/>
                </a:solidFill>
                <a:effectLst/>
              </a:rPr>
              <a:t>a clear concept of the major duties or activities required to achieve the purpose</a:t>
            </a:r>
          </a:p>
          <a:p>
            <a:pPr marL="514350" indent="-514350">
              <a:lnSpc>
                <a:spcPct val="120000"/>
              </a:lnSpc>
              <a:buFont typeface="+mj-lt"/>
              <a:buAutoNum type="arabicPeriod"/>
            </a:pPr>
            <a:r>
              <a:rPr lang="en-US" sz="3000" b="0" i="0" dirty="0">
                <a:solidFill>
                  <a:srgbClr val="000000"/>
                </a:solidFill>
                <a:effectLst/>
              </a:rPr>
              <a:t>classification of activities into jobs, and</a:t>
            </a:r>
          </a:p>
          <a:p>
            <a:pPr marL="514350" indent="-514350">
              <a:lnSpc>
                <a:spcPct val="120000"/>
              </a:lnSpc>
              <a:buFont typeface="+mj-lt"/>
              <a:buAutoNum type="arabicPeriod"/>
            </a:pPr>
            <a:r>
              <a:rPr lang="en-US" sz="3000" b="0" i="0" dirty="0">
                <a:solidFill>
                  <a:srgbClr val="000000"/>
                </a:solidFill>
                <a:effectLst/>
              </a:rPr>
              <a:t>establishment of relationships between these jobs in order to ensure coordination. This is achieved through division of </a:t>
            </a:r>
            <a:r>
              <a:rPr lang="en-US" sz="3000" b="0" i="0" dirty="0" err="1">
                <a:solidFill>
                  <a:srgbClr val="000000"/>
                </a:solidFill>
                <a:effectLst/>
              </a:rPr>
              <a:t>labour</a:t>
            </a:r>
            <a:r>
              <a:rPr lang="en-US" sz="3000" b="0" i="0" dirty="0">
                <a:solidFill>
                  <a:srgbClr val="000000"/>
                </a:solidFill>
                <a:effectLst/>
              </a:rPr>
              <a:t> and delegation of authority.</a:t>
            </a:r>
            <a:r>
              <a:rPr lang="en-US" sz="3000" dirty="0"/>
              <a:t> </a:t>
            </a:r>
            <a:endParaRPr lang="en-IN" sz="3000" dirty="0">
              <a:solidFill>
                <a:schemeClr val="accent1">
                  <a:lumMod val="75000"/>
                </a:schemeClr>
              </a:solidFill>
            </a:endParaRPr>
          </a:p>
        </p:txBody>
      </p:sp>
    </p:spTree>
    <p:extLst>
      <p:ext uri="{BB962C8B-B14F-4D97-AF65-F5344CB8AC3E}">
        <p14:creationId xmlns:p14="http://schemas.microsoft.com/office/powerpoint/2010/main" val="26559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675E76-7431-44B6-8F82-5D013770E873}"/>
              </a:ext>
            </a:extLst>
          </p:cNvPr>
          <p:cNvSpPr>
            <a:spLocks noGrp="1"/>
          </p:cNvSpPr>
          <p:nvPr>
            <p:ph type="title"/>
          </p:nvPr>
        </p:nvSpPr>
        <p:spPr>
          <a:xfrm>
            <a:off x="838200" y="365126"/>
            <a:ext cx="10515600" cy="638052"/>
          </a:xfrm>
        </p:spPr>
        <p:txBody>
          <a:bodyPr>
            <a:normAutofit/>
          </a:bodyPr>
          <a:lstStyle/>
          <a:p>
            <a:r>
              <a:rPr lang="en-IN" sz="3200" b="1" i="0" dirty="0">
                <a:solidFill>
                  <a:srgbClr val="C00000"/>
                </a:solidFill>
                <a:effectLst/>
                <a:latin typeface="+mn-lt"/>
              </a:rPr>
              <a:t>Types of Organisations</a:t>
            </a:r>
            <a:r>
              <a:rPr lang="en-IN" sz="3200" b="1" dirty="0">
                <a:solidFill>
                  <a:srgbClr val="C00000"/>
                </a:solidFill>
                <a:latin typeface="+mn-lt"/>
              </a:rPr>
              <a:t> </a:t>
            </a:r>
          </a:p>
        </p:txBody>
      </p:sp>
      <p:sp>
        <p:nvSpPr>
          <p:cNvPr id="3" name="Content Placeholder 2">
            <a:extLst>
              <a:ext uri="{FF2B5EF4-FFF2-40B4-BE49-F238E27FC236}">
                <a16:creationId xmlns:a16="http://schemas.microsoft.com/office/drawing/2014/main" xmlns="" id="{CFE93014-B93F-454D-BC47-E54CBBAC5D4F}"/>
              </a:ext>
            </a:extLst>
          </p:cNvPr>
          <p:cNvSpPr>
            <a:spLocks noGrp="1"/>
          </p:cNvSpPr>
          <p:nvPr>
            <p:ph idx="1"/>
          </p:nvPr>
        </p:nvSpPr>
        <p:spPr>
          <a:xfrm>
            <a:off x="838200" y="1278384"/>
            <a:ext cx="10515600" cy="4898579"/>
          </a:xfrm>
        </p:spPr>
        <p:txBody>
          <a:bodyPr>
            <a:noAutofit/>
          </a:bodyPr>
          <a:lstStyle/>
          <a:p>
            <a:pPr marL="0" indent="0">
              <a:lnSpc>
                <a:spcPct val="100000"/>
              </a:lnSpc>
              <a:buNone/>
            </a:pPr>
            <a:r>
              <a:rPr lang="en-IN" b="1" dirty="0">
                <a:solidFill>
                  <a:srgbClr val="000000"/>
                </a:solidFill>
                <a:effectLst/>
              </a:rPr>
              <a:t>Four types based on who gets benefit.</a:t>
            </a:r>
          </a:p>
          <a:p>
            <a:pPr marL="514350" indent="-514350">
              <a:lnSpc>
                <a:spcPct val="100000"/>
              </a:lnSpc>
              <a:buFont typeface="+mj-lt"/>
              <a:buAutoNum type="arabicPeriod"/>
            </a:pPr>
            <a:r>
              <a:rPr lang="en-US" b="0" dirty="0" err="1">
                <a:solidFill>
                  <a:srgbClr val="000000"/>
                </a:solidFill>
                <a:effectLst/>
              </a:rPr>
              <a:t>Organisations</a:t>
            </a:r>
            <a:r>
              <a:rPr lang="en-US" b="0" dirty="0">
                <a:solidFill>
                  <a:srgbClr val="000000"/>
                </a:solidFill>
                <a:effectLst/>
              </a:rPr>
              <a:t> which benefit their </a:t>
            </a:r>
            <a:r>
              <a:rPr lang="en-US" b="0" dirty="0">
                <a:solidFill>
                  <a:srgbClr val="002060"/>
                </a:solidFill>
                <a:effectLst/>
              </a:rPr>
              <a:t>owners. </a:t>
            </a:r>
          </a:p>
          <a:p>
            <a:pPr marL="457200" lvl="1" indent="0">
              <a:lnSpc>
                <a:spcPct val="100000"/>
              </a:lnSpc>
              <a:buNone/>
            </a:pPr>
            <a:r>
              <a:rPr lang="en-US" b="0" dirty="0">
                <a:solidFill>
                  <a:srgbClr val="000000"/>
                </a:solidFill>
                <a:effectLst/>
              </a:rPr>
              <a:t>Ex.: Business </a:t>
            </a:r>
            <a:r>
              <a:rPr lang="en-US" b="0" dirty="0" err="1">
                <a:solidFill>
                  <a:srgbClr val="000000"/>
                </a:solidFill>
                <a:effectLst/>
              </a:rPr>
              <a:t>organisations</a:t>
            </a:r>
            <a:r>
              <a:rPr lang="en-US" b="0" dirty="0">
                <a:solidFill>
                  <a:srgbClr val="000000"/>
                </a:solidFill>
                <a:effectLst/>
              </a:rPr>
              <a:t> </a:t>
            </a:r>
          </a:p>
          <a:p>
            <a:pPr marL="514350" indent="-514350">
              <a:lnSpc>
                <a:spcPct val="100000"/>
              </a:lnSpc>
              <a:buFont typeface="+mj-lt"/>
              <a:buAutoNum type="arabicPeriod"/>
            </a:pPr>
            <a:r>
              <a:rPr lang="en-US" b="0" dirty="0" err="1">
                <a:solidFill>
                  <a:srgbClr val="000000"/>
                </a:solidFill>
                <a:effectLst/>
              </a:rPr>
              <a:t>Organisations</a:t>
            </a:r>
            <a:r>
              <a:rPr lang="en-US" b="0" dirty="0">
                <a:solidFill>
                  <a:srgbClr val="000000"/>
                </a:solidFill>
                <a:effectLst/>
              </a:rPr>
              <a:t> which benefit their </a:t>
            </a:r>
            <a:r>
              <a:rPr lang="en-US" b="0" dirty="0">
                <a:solidFill>
                  <a:srgbClr val="002060"/>
                </a:solidFill>
                <a:effectLst/>
              </a:rPr>
              <a:t>members. </a:t>
            </a:r>
          </a:p>
          <a:p>
            <a:pPr marL="457200" lvl="1" indent="0">
              <a:lnSpc>
                <a:spcPct val="100000"/>
              </a:lnSpc>
              <a:buNone/>
            </a:pPr>
            <a:r>
              <a:rPr lang="en-US" b="0" dirty="0">
                <a:solidFill>
                  <a:srgbClr val="000000"/>
                </a:solidFill>
                <a:effectLst/>
              </a:rPr>
              <a:t>Ex.: Unions, cooperatives and clubs</a:t>
            </a:r>
            <a:endParaRPr lang="en-US" dirty="0"/>
          </a:p>
          <a:p>
            <a:pPr marL="514350" indent="-514350">
              <a:lnSpc>
                <a:spcPct val="100000"/>
              </a:lnSpc>
              <a:buFont typeface="+mj-lt"/>
              <a:buAutoNum type="arabicPeriod"/>
            </a:pPr>
            <a:r>
              <a:rPr lang="en-US" b="0" dirty="0" err="1">
                <a:solidFill>
                  <a:srgbClr val="000000"/>
                </a:solidFill>
                <a:effectLst/>
              </a:rPr>
              <a:t>Organisations</a:t>
            </a:r>
            <a:r>
              <a:rPr lang="en-US" b="0" dirty="0">
                <a:solidFill>
                  <a:srgbClr val="000000"/>
                </a:solidFill>
                <a:effectLst/>
              </a:rPr>
              <a:t> which benefit their </a:t>
            </a:r>
            <a:r>
              <a:rPr lang="en-US" b="0" dirty="0">
                <a:solidFill>
                  <a:srgbClr val="002060"/>
                </a:solidFill>
                <a:effectLst/>
              </a:rPr>
              <a:t>clients. </a:t>
            </a:r>
          </a:p>
          <a:p>
            <a:pPr marL="457200" lvl="1" indent="0">
              <a:lnSpc>
                <a:spcPct val="100000"/>
              </a:lnSpc>
              <a:buNone/>
            </a:pPr>
            <a:r>
              <a:rPr lang="en-US" b="0" dirty="0">
                <a:solidFill>
                  <a:srgbClr val="000000"/>
                </a:solidFill>
                <a:effectLst/>
              </a:rPr>
              <a:t>Ex.: Insurance companies, private schools, etc.</a:t>
            </a:r>
            <a:endParaRPr lang="en-US" dirty="0">
              <a:solidFill>
                <a:srgbClr val="000000"/>
              </a:solidFill>
            </a:endParaRPr>
          </a:p>
          <a:p>
            <a:pPr marL="514350" indent="-514350">
              <a:lnSpc>
                <a:spcPct val="100000"/>
              </a:lnSpc>
              <a:buFont typeface="+mj-lt"/>
              <a:buAutoNum type="arabicPeriod"/>
            </a:pPr>
            <a:r>
              <a:rPr lang="en-US" b="0" dirty="0" err="1">
                <a:solidFill>
                  <a:srgbClr val="000000"/>
                </a:solidFill>
                <a:effectLst/>
              </a:rPr>
              <a:t>Organisations</a:t>
            </a:r>
            <a:r>
              <a:rPr lang="en-US" b="0" dirty="0">
                <a:solidFill>
                  <a:srgbClr val="000000"/>
                </a:solidFill>
                <a:effectLst/>
              </a:rPr>
              <a:t> which benefit the </a:t>
            </a:r>
            <a:r>
              <a:rPr lang="en-US" b="0" dirty="0">
                <a:solidFill>
                  <a:srgbClr val="002060"/>
                </a:solidFill>
                <a:effectLst/>
              </a:rPr>
              <a:t>whole society. </a:t>
            </a:r>
          </a:p>
          <a:p>
            <a:pPr marL="457200" lvl="1" indent="0">
              <a:lnSpc>
                <a:spcPct val="100000"/>
              </a:lnSpc>
              <a:buNone/>
            </a:pPr>
            <a:r>
              <a:rPr lang="en-US" b="0" dirty="0">
                <a:solidFill>
                  <a:srgbClr val="000000"/>
                </a:solidFill>
                <a:effectLst/>
              </a:rPr>
              <a:t>Ex.: Governmental departments, the armed services and the police.</a:t>
            </a:r>
            <a:r>
              <a:rPr lang="en-US" dirty="0"/>
              <a:t> </a:t>
            </a:r>
            <a:br>
              <a:rPr lang="en-US" dirty="0"/>
            </a:br>
            <a:r>
              <a:rPr lang="en-US" dirty="0"/>
              <a:t/>
            </a:r>
            <a:br>
              <a:rPr lang="en-US" dirty="0"/>
            </a:br>
            <a:r>
              <a:rPr lang="en-IN" dirty="0"/>
              <a:t/>
            </a:r>
            <a:br>
              <a:rPr lang="en-IN" dirty="0"/>
            </a:br>
            <a:endParaRPr lang="en-IN" dirty="0"/>
          </a:p>
        </p:txBody>
      </p:sp>
    </p:spTree>
    <p:extLst>
      <p:ext uri="{BB962C8B-B14F-4D97-AF65-F5344CB8AC3E}">
        <p14:creationId xmlns:p14="http://schemas.microsoft.com/office/powerpoint/2010/main" val="2980832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95897F-2050-4F8E-9803-6BEF2E7E0235}"/>
              </a:ext>
            </a:extLst>
          </p:cNvPr>
          <p:cNvSpPr>
            <a:spLocks noGrp="1"/>
          </p:cNvSpPr>
          <p:nvPr>
            <p:ph type="title"/>
          </p:nvPr>
        </p:nvSpPr>
        <p:spPr>
          <a:xfrm>
            <a:off x="838200" y="365125"/>
            <a:ext cx="10515600" cy="558153"/>
          </a:xfrm>
        </p:spPr>
        <p:txBody>
          <a:bodyPr>
            <a:normAutofit/>
          </a:bodyPr>
          <a:lstStyle/>
          <a:p>
            <a:r>
              <a:rPr lang="en-IN" sz="3200" b="1" i="0" dirty="0">
                <a:solidFill>
                  <a:srgbClr val="C00000"/>
                </a:solidFill>
                <a:effectLst/>
                <a:latin typeface="+mn-lt"/>
              </a:rPr>
              <a:t>Process of Organising</a:t>
            </a:r>
            <a:r>
              <a:rPr lang="en-IN" sz="3200" dirty="0">
                <a:solidFill>
                  <a:srgbClr val="C00000"/>
                </a:solidFill>
                <a:latin typeface="+mn-lt"/>
              </a:rPr>
              <a:t> </a:t>
            </a:r>
          </a:p>
        </p:txBody>
      </p:sp>
      <p:sp>
        <p:nvSpPr>
          <p:cNvPr id="3" name="Content Placeholder 2">
            <a:extLst>
              <a:ext uri="{FF2B5EF4-FFF2-40B4-BE49-F238E27FC236}">
                <a16:creationId xmlns:a16="http://schemas.microsoft.com/office/drawing/2014/main" xmlns="" id="{91B13FCD-8B89-4725-8AAF-9B0F32C26B0F}"/>
              </a:ext>
            </a:extLst>
          </p:cNvPr>
          <p:cNvSpPr>
            <a:spLocks noGrp="1"/>
          </p:cNvSpPr>
          <p:nvPr>
            <p:ph idx="1"/>
          </p:nvPr>
        </p:nvSpPr>
        <p:spPr>
          <a:xfrm>
            <a:off x="838200" y="1100832"/>
            <a:ext cx="10515600" cy="5076132"/>
          </a:xfrm>
        </p:spPr>
        <p:txBody>
          <a:bodyPr>
            <a:noAutofit/>
          </a:bodyPr>
          <a:lstStyle/>
          <a:p>
            <a:pPr>
              <a:lnSpc>
                <a:spcPct val="100000"/>
              </a:lnSpc>
            </a:pPr>
            <a:r>
              <a:rPr lang="en-US" b="0" dirty="0" err="1">
                <a:solidFill>
                  <a:srgbClr val="000000"/>
                </a:solidFill>
                <a:effectLst/>
              </a:rPr>
              <a:t>Organising</a:t>
            </a:r>
            <a:r>
              <a:rPr lang="en-US" b="0" dirty="0">
                <a:solidFill>
                  <a:srgbClr val="000000"/>
                </a:solidFill>
                <a:effectLst/>
              </a:rPr>
              <a:t> means designing the </a:t>
            </a:r>
            <a:r>
              <a:rPr lang="en-US" b="0" dirty="0" err="1">
                <a:solidFill>
                  <a:srgbClr val="000000"/>
                </a:solidFill>
                <a:effectLst/>
              </a:rPr>
              <a:t>organisation</a:t>
            </a:r>
            <a:r>
              <a:rPr lang="en-US" b="0" dirty="0">
                <a:solidFill>
                  <a:srgbClr val="000000"/>
                </a:solidFill>
                <a:effectLst/>
              </a:rPr>
              <a:t> structure. </a:t>
            </a:r>
          </a:p>
          <a:p>
            <a:pPr>
              <a:lnSpc>
                <a:spcPct val="100000"/>
              </a:lnSpc>
            </a:pPr>
            <a:r>
              <a:rPr lang="en-US" b="0" dirty="0">
                <a:solidFill>
                  <a:srgbClr val="000000"/>
                </a:solidFill>
                <a:effectLst/>
              </a:rPr>
              <a:t>In performing the </a:t>
            </a:r>
            <a:r>
              <a:rPr lang="en-US" b="0" dirty="0" err="1">
                <a:solidFill>
                  <a:srgbClr val="000000"/>
                </a:solidFill>
                <a:effectLst/>
              </a:rPr>
              <a:t>organising</a:t>
            </a:r>
            <a:r>
              <a:rPr lang="en-US" b="0" dirty="0">
                <a:solidFill>
                  <a:srgbClr val="000000"/>
                </a:solidFill>
                <a:effectLst/>
              </a:rPr>
              <a:t> function, the manager differentiates and integrates the activities of his </a:t>
            </a:r>
            <a:r>
              <a:rPr lang="en-US" b="0" dirty="0" err="1">
                <a:solidFill>
                  <a:srgbClr val="000000"/>
                </a:solidFill>
                <a:effectLst/>
              </a:rPr>
              <a:t>organisation</a:t>
            </a:r>
            <a:r>
              <a:rPr lang="en-US" b="0" dirty="0">
                <a:solidFill>
                  <a:srgbClr val="000000"/>
                </a:solidFill>
                <a:effectLst/>
              </a:rPr>
              <a:t>.</a:t>
            </a:r>
          </a:p>
          <a:p>
            <a:pPr marL="0" indent="0">
              <a:lnSpc>
                <a:spcPct val="100000"/>
              </a:lnSpc>
              <a:buNone/>
            </a:pPr>
            <a:r>
              <a:rPr lang="en-US" b="0" dirty="0">
                <a:solidFill>
                  <a:srgbClr val="000000"/>
                </a:solidFill>
                <a:effectLst/>
              </a:rPr>
              <a:t> </a:t>
            </a:r>
          </a:p>
          <a:p>
            <a:pPr marL="0" indent="0">
              <a:lnSpc>
                <a:spcPct val="100000"/>
              </a:lnSpc>
              <a:buNone/>
            </a:pPr>
            <a:r>
              <a:rPr lang="en-IN" b="1" dirty="0">
                <a:solidFill>
                  <a:schemeClr val="accent1">
                    <a:lumMod val="75000"/>
                  </a:schemeClr>
                </a:solidFill>
                <a:effectLst/>
              </a:rPr>
              <a:t>Organising consists of a seven-step procedure</a:t>
            </a:r>
          </a:p>
          <a:p>
            <a:pPr marL="514350" indent="-514350">
              <a:lnSpc>
                <a:spcPct val="100000"/>
              </a:lnSpc>
              <a:buFont typeface="+mj-lt"/>
              <a:buAutoNum type="arabicPeriod"/>
            </a:pPr>
            <a:r>
              <a:rPr lang="en-IN" dirty="0"/>
              <a:t> </a:t>
            </a:r>
            <a:r>
              <a:rPr lang="en-IN" b="1" dirty="0">
                <a:solidFill>
                  <a:srgbClr val="000000"/>
                </a:solidFill>
                <a:effectLst/>
              </a:rPr>
              <a:t>Consideration of objectives</a:t>
            </a:r>
          </a:p>
          <a:p>
            <a:pPr lvl="1">
              <a:lnSpc>
                <a:spcPct val="100000"/>
              </a:lnSpc>
            </a:pPr>
            <a:r>
              <a:rPr lang="en-US" sz="2800" b="0" dirty="0">
                <a:solidFill>
                  <a:srgbClr val="000000"/>
                </a:solidFill>
                <a:effectLst/>
              </a:rPr>
              <a:t>The first step in </a:t>
            </a:r>
            <a:r>
              <a:rPr lang="en-US" sz="2800" b="0" dirty="0" err="1">
                <a:solidFill>
                  <a:srgbClr val="000000"/>
                </a:solidFill>
                <a:effectLst/>
              </a:rPr>
              <a:t>organising</a:t>
            </a:r>
            <a:r>
              <a:rPr lang="en-US" sz="2800" b="0" dirty="0">
                <a:solidFill>
                  <a:srgbClr val="000000"/>
                </a:solidFill>
                <a:effectLst/>
              </a:rPr>
              <a:t> is to know the objectives of the enterprise. </a:t>
            </a:r>
          </a:p>
          <a:p>
            <a:pPr lvl="1">
              <a:lnSpc>
                <a:spcPct val="100000"/>
              </a:lnSpc>
            </a:pPr>
            <a:r>
              <a:rPr lang="en-US" sz="2800" b="0" dirty="0">
                <a:solidFill>
                  <a:srgbClr val="000000"/>
                </a:solidFill>
                <a:effectLst/>
              </a:rPr>
              <a:t>Objectives determine the various activities which need to be performed.</a:t>
            </a:r>
          </a:p>
          <a:p>
            <a:pPr marL="0" indent="0">
              <a:lnSpc>
                <a:spcPct val="100000"/>
              </a:lnSpc>
              <a:buNone/>
            </a:pPr>
            <a:r>
              <a:rPr lang="en-US" dirty="0"/>
              <a:t/>
            </a:r>
            <a:br>
              <a:rPr lang="en-US" dirty="0"/>
            </a:br>
            <a:r>
              <a:rPr lang="en-US" dirty="0"/>
              <a:t/>
            </a:r>
            <a:br>
              <a:rPr lang="en-US" dirty="0"/>
            </a:br>
            <a:r>
              <a:rPr lang="en-US" dirty="0"/>
              <a:t/>
            </a:r>
            <a:br>
              <a:rPr lang="en-US" dirty="0"/>
            </a:br>
            <a:r>
              <a:rPr lang="en-IN" dirty="0"/>
              <a:t/>
            </a:r>
            <a:br>
              <a:rPr lang="en-IN" dirty="0"/>
            </a:br>
            <a:r>
              <a:rPr lang="en-US" b="0" dirty="0">
                <a:solidFill>
                  <a:srgbClr val="000000"/>
                </a:solidFill>
                <a:effectLst/>
              </a:rPr>
              <a:t> </a:t>
            </a:r>
            <a:r>
              <a:rPr lang="en-US" dirty="0"/>
              <a:t/>
            </a:r>
            <a:br>
              <a:rPr lang="en-US" dirty="0"/>
            </a:br>
            <a:r>
              <a:rPr lang="en-IN" dirty="0"/>
              <a:t> </a:t>
            </a:r>
            <a:br>
              <a:rPr lang="en-IN" dirty="0"/>
            </a:br>
            <a:r>
              <a:rPr lang="en-IN" dirty="0"/>
              <a:t/>
            </a:r>
            <a:br>
              <a:rPr lang="en-IN" dirty="0"/>
            </a:br>
            <a:r>
              <a:rPr lang="en-US" dirty="0"/>
              <a:t/>
            </a:r>
            <a:br>
              <a:rPr lang="en-US" dirty="0"/>
            </a:br>
            <a:endParaRPr lang="en-IN" dirty="0"/>
          </a:p>
        </p:txBody>
      </p:sp>
    </p:spTree>
    <p:extLst>
      <p:ext uri="{BB962C8B-B14F-4D97-AF65-F5344CB8AC3E}">
        <p14:creationId xmlns:p14="http://schemas.microsoft.com/office/powerpoint/2010/main" val="90010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211F7C-3B69-4B6A-8D1D-184C6E126920}"/>
              </a:ext>
            </a:extLst>
          </p:cNvPr>
          <p:cNvSpPr>
            <a:spLocks noGrp="1"/>
          </p:cNvSpPr>
          <p:nvPr>
            <p:ph idx="1"/>
          </p:nvPr>
        </p:nvSpPr>
        <p:spPr>
          <a:xfrm>
            <a:off x="838200" y="381740"/>
            <a:ext cx="10515600" cy="6143347"/>
          </a:xfrm>
        </p:spPr>
        <p:txBody>
          <a:bodyPr>
            <a:noAutofit/>
          </a:bodyPr>
          <a:lstStyle/>
          <a:p>
            <a:pPr marL="514350" indent="-514350">
              <a:lnSpc>
                <a:spcPct val="100000"/>
              </a:lnSpc>
              <a:buFont typeface="+mj-lt"/>
              <a:buAutoNum type="arabicPeriod" startAt="2"/>
            </a:pPr>
            <a:r>
              <a:rPr lang="en-IN" b="1" dirty="0">
                <a:solidFill>
                  <a:srgbClr val="000000"/>
                </a:solidFill>
                <a:effectLst/>
              </a:rPr>
              <a:t>Deciding organisational boundaries</a:t>
            </a:r>
          </a:p>
          <a:p>
            <a:pPr lvl="1">
              <a:lnSpc>
                <a:spcPct val="100000"/>
              </a:lnSpc>
            </a:pPr>
            <a:r>
              <a:rPr lang="en-US" sz="2800" b="0" dirty="0">
                <a:solidFill>
                  <a:srgbClr val="000000"/>
                </a:solidFill>
                <a:effectLst/>
              </a:rPr>
              <a:t>Making manufacture-versus-buy choices for different goods and services and choices about strategic alliances with other firms.</a:t>
            </a:r>
          </a:p>
          <a:p>
            <a:pPr lvl="1">
              <a:lnSpc>
                <a:spcPct val="100000"/>
              </a:lnSpc>
            </a:pPr>
            <a:r>
              <a:rPr lang="en-US" sz="2800" b="0" dirty="0">
                <a:solidFill>
                  <a:srgbClr val="000000"/>
                </a:solidFill>
                <a:effectLst/>
              </a:rPr>
              <a:t>Also choices have to be made about the extent to which the different parts of the </a:t>
            </a:r>
            <a:r>
              <a:rPr lang="en-US" sz="2800" b="0" dirty="0" err="1">
                <a:solidFill>
                  <a:srgbClr val="000000"/>
                </a:solidFill>
                <a:effectLst/>
              </a:rPr>
              <a:t>organisation</a:t>
            </a:r>
            <a:r>
              <a:rPr lang="en-US" sz="2800" b="0" dirty="0">
                <a:solidFill>
                  <a:srgbClr val="000000"/>
                </a:solidFill>
                <a:effectLst/>
              </a:rPr>
              <a:t> interact directly with the outside environment.</a:t>
            </a:r>
            <a:r>
              <a:rPr lang="en-US" sz="2800" dirty="0"/>
              <a:t> </a:t>
            </a:r>
          </a:p>
          <a:p>
            <a:pPr lvl="1">
              <a:lnSpc>
                <a:spcPct val="100000"/>
              </a:lnSpc>
            </a:pPr>
            <a:endParaRPr lang="en-US" b="1" dirty="0">
              <a:solidFill>
                <a:srgbClr val="000000"/>
              </a:solidFill>
              <a:effectLst/>
            </a:endParaRPr>
          </a:p>
          <a:p>
            <a:pPr marL="514350" indent="-514350">
              <a:lnSpc>
                <a:spcPct val="100000"/>
              </a:lnSpc>
              <a:buFont typeface="+mj-lt"/>
              <a:buAutoNum type="arabicPeriod" startAt="3"/>
            </a:pPr>
            <a:r>
              <a:rPr lang="en-US" b="1" dirty="0">
                <a:solidFill>
                  <a:srgbClr val="000000"/>
                </a:solidFill>
                <a:effectLst/>
              </a:rPr>
              <a:t>Grouping of activities into departments</a:t>
            </a:r>
            <a:r>
              <a:rPr lang="en-US" dirty="0"/>
              <a:t> </a:t>
            </a:r>
          </a:p>
          <a:p>
            <a:pPr lvl="1">
              <a:lnSpc>
                <a:spcPct val="100000"/>
              </a:lnSpc>
            </a:pPr>
            <a:r>
              <a:rPr lang="en-US" sz="2800" b="0" dirty="0">
                <a:solidFill>
                  <a:srgbClr val="000000"/>
                </a:solidFill>
                <a:effectLst/>
              </a:rPr>
              <a:t>All closely related and similar activities are grouped into departments and sections. </a:t>
            </a:r>
          </a:p>
          <a:p>
            <a:pPr lvl="1">
              <a:lnSpc>
                <a:spcPct val="100000"/>
              </a:lnSpc>
            </a:pPr>
            <a:r>
              <a:rPr lang="en-US" sz="2800" b="0" dirty="0">
                <a:solidFill>
                  <a:srgbClr val="FF0000"/>
                </a:solidFill>
                <a:effectLst/>
              </a:rPr>
              <a:t>Ex.: </a:t>
            </a:r>
            <a:r>
              <a:rPr lang="en-US" sz="2800" b="0" dirty="0">
                <a:solidFill>
                  <a:srgbClr val="000000"/>
                </a:solidFill>
                <a:effectLst/>
              </a:rPr>
              <a:t>Activities of a manufacturing company may be grouped into production, marketing, financing and personnel departments.</a:t>
            </a:r>
            <a:r>
              <a:rPr lang="en-US" sz="2800" dirty="0"/>
              <a:t> </a:t>
            </a:r>
          </a:p>
          <a:p>
            <a:pPr>
              <a:lnSpc>
                <a:spcPct val="100000"/>
              </a:lnSpc>
            </a:pPr>
            <a:endParaRPr lang="en-IN" dirty="0"/>
          </a:p>
        </p:txBody>
      </p:sp>
    </p:spTree>
    <p:extLst>
      <p:ext uri="{BB962C8B-B14F-4D97-AF65-F5344CB8AC3E}">
        <p14:creationId xmlns:p14="http://schemas.microsoft.com/office/powerpoint/2010/main" val="373943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935BDED-92E9-4C0C-AA48-DBF61743AACC}"/>
              </a:ext>
            </a:extLst>
          </p:cNvPr>
          <p:cNvSpPr>
            <a:spLocks noGrp="1"/>
          </p:cNvSpPr>
          <p:nvPr>
            <p:ph idx="1"/>
          </p:nvPr>
        </p:nvSpPr>
        <p:spPr>
          <a:xfrm>
            <a:off x="660646" y="309446"/>
            <a:ext cx="11137777" cy="5972777"/>
          </a:xfrm>
        </p:spPr>
        <p:txBody>
          <a:bodyPr>
            <a:noAutofit/>
          </a:bodyPr>
          <a:lstStyle/>
          <a:p>
            <a:pPr marL="514350" indent="-514350">
              <a:lnSpc>
                <a:spcPct val="100000"/>
              </a:lnSpc>
              <a:buFont typeface="+mj-lt"/>
              <a:buAutoNum type="arabicPeriod" startAt="4"/>
            </a:pPr>
            <a:r>
              <a:rPr lang="en-US" b="1" i="0" dirty="0">
                <a:solidFill>
                  <a:srgbClr val="000000"/>
                </a:solidFill>
                <a:effectLst/>
              </a:rPr>
              <a:t>Deciding which departments will be key departments</a:t>
            </a:r>
          </a:p>
          <a:p>
            <a:pPr lvl="1">
              <a:lnSpc>
                <a:spcPct val="100000"/>
              </a:lnSpc>
            </a:pPr>
            <a:r>
              <a:rPr lang="en-US" sz="2800" b="0" i="0" dirty="0">
                <a:solidFill>
                  <a:srgbClr val="000000"/>
                </a:solidFill>
                <a:effectLst/>
              </a:rPr>
              <a:t>Key departments are those which are rendering key activities, i.e., activities essential for the fulfilment of goals. </a:t>
            </a:r>
          </a:p>
          <a:p>
            <a:pPr lvl="1">
              <a:lnSpc>
                <a:spcPct val="100000"/>
              </a:lnSpc>
            </a:pPr>
            <a:r>
              <a:rPr lang="en-US" sz="2800" b="0" i="0" dirty="0">
                <a:solidFill>
                  <a:srgbClr val="000000"/>
                </a:solidFill>
                <a:effectLst/>
              </a:rPr>
              <a:t>The key departments should be placed directly under higher management.</a:t>
            </a:r>
            <a:r>
              <a:rPr lang="en-US" sz="2800" dirty="0"/>
              <a:t> </a:t>
            </a:r>
          </a:p>
          <a:p>
            <a:pPr marL="457200" lvl="1" indent="0">
              <a:lnSpc>
                <a:spcPct val="100000"/>
              </a:lnSpc>
              <a:buNone/>
            </a:pPr>
            <a:endParaRPr lang="en-US" sz="2800" dirty="0"/>
          </a:p>
          <a:p>
            <a:pPr marL="514350" indent="-514350">
              <a:lnSpc>
                <a:spcPct val="100000"/>
              </a:lnSpc>
              <a:buFont typeface="+mj-lt"/>
              <a:buAutoNum type="arabicPeriod" startAt="5"/>
            </a:pPr>
            <a:r>
              <a:rPr lang="en-US" b="1" i="0" dirty="0">
                <a:solidFill>
                  <a:srgbClr val="000000"/>
                </a:solidFill>
                <a:effectLst/>
              </a:rPr>
              <a:t>Determining levels at which various types of decisions are to be made</a:t>
            </a:r>
          </a:p>
          <a:p>
            <a:pPr lvl="1">
              <a:lnSpc>
                <a:spcPct val="100000"/>
              </a:lnSpc>
            </a:pPr>
            <a:r>
              <a:rPr lang="en-US" sz="2800" b="0" i="0" dirty="0">
                <a:solidFill>
                  <a:srgbClr val="000000"/>
                </a:solidFill>
                <a:effectLst/>
              </a:rPr>
              <a:t>Each firm must decide, how much </a:t>
            </a:r>
            <a:r>
              <a:rPr lang="en-US" sz="2800" b="0" i="0" dirty="0" err="1">
                <a:solidFill>
                  <a:srgbClr val="000000"/>
                </a:solidFill>
                <a:effectLst/>
              </a:rPr>
              <a:t>decentralisation</a:t>
            </a:r>
            <a:r>
              <a:rPr lang="en-US" sz="2800" b="0" i="0" dirty="0">
                <a:solidFill>
                  <a:srgbClr val="000000"/>
                </a:solidFill>
                <a:effectLst/>
              </a:rPr>
              <a:t> of authority and responsibility it wants to have. </a:t>
            </a:r>
          </a:p>
          <a:p>
            <a:pPr lvl="1">
              <a:lnSpc>
                <a:spcPct val="100000"/>
              </a:lnSpc>
            </a:pPr>
            <a:r>
              <a:rPr lang="en-US" sz="2800" b="0" i="0" dirty="0">
                <a:solidFill>
                  <a:srgbClr val="000000"/>
                </a:solidFill>
                <a:effectLst/>
              </a:rPr>
              <a:t>Extreme </a:t>
            </a:r>
            <a:r>
              <a:rPr lang="en-US" sz="2800" b="0" i="0" dirty="0" err="1">
                <a:solidFill>
                  <a:srgbClr val="000000"/>
                </a:solidFill>
                <a:effectLst/>
              </a:rPr>
              <a:t>decentralisation</a:t>
            </a:r>
            <a:r>
              <a:rPr lang="en-US" sz="2800" b="0" i="0" dirty="0">
                <a:solidFill>
                  <a:srgbClr val="000000"/>
                </a:solidFill>
                <a:effectLst/>
              </a:rPr>
              <a:t> may lead to loss of control and effective coordination. </a:t>
            </a:r>
          </a:p>
          <a:p>
            <a:pPr lvl="1">
              <a:lnSpc>
                <a:spcPct val="100000"/>
              </a:lnSpc>
            </a:pPr>
            <a:r>
              <a:rPr lang="en-US" sz="2800" b="0" i="0" dirty="0">
                <a:solidFill>
                  <a:srgbClr val="000000"/>
                </a:solidFill>
                <a:effectLst/>
              </a:rPr>
              <a:t>Extreme </a:t>
            </a:r>
            <a:r>
              <a:rPr lang="en-US" sz="2800" b="0" i="0" dirty="0" err="1">
                <a:solidFill>
                  <a:srgbClr val="000000"/>
                </a:solidFill>
                <a:effectLst/>
              </a:rPr>
              <a:t>centralisation</a:t>
            </a:r>
            <a:r>
              <a:rPr lang="en-US" sz="2800" b="0" i="0" dirty="0">
                <a:solidFill>
                  <a:srgbClr val="000000"/>
                </a:solidFill>
                <a:effectLst/>
              </a:rPr>
              <a:t>, may lead to wrong decisions at wrong times and complete breakdown of the morale of employees.</a:t>
            </a:r>
            <a:r>
              <a:rPr lang="en-US" sz="2800" dirty="0"/>
              <a:t> </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t>
            </a:r>
            <a:br>
              <a:rPr lang="en-US" dirty="0"/>
            </a:br>
            <a:endParaRPr lang="en-IN" dirty="0"/>
          </a:p>
        </p:txBody>
      </p:sp>
    </p:spTree>
    <p:extLst>
      <p:ext uri="{BB962C8B-B14F-4D97-AF65-F5344CB8AC3E}">
        <p14:creationId xmlns:p14="http://schemas.microsoft.com/office/powerpoint/2010/main" val="358014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F726101-C05C-4DAA-8E96-F1D4AF835399}"/>
              </a:ext>
            </a:extLst>
          </p:cNvPr>
          <p:cNvSpPr>
            <a:spLocks noGrp="1"/>
          </p:cNvSpPr>
          <p:nvPr>
            <p:ph idx="1"/>
          </p:nvPr>
        </p:nvSpPr>
        <p:spPr>
          <a:xfrm>
            <a:off x="838200" y="550416"/>
            <a:ext cx="10515600" cy="6027937"/>
          </a:xfrm>
        </p:spPr>
        <p:txBody>
          <a:bodyPr/>
          <a:lstStyle/>
          <a:p>
            <a:pPr marL="514350" indent="-514350">
              <a:lnSpc>
                <a:spcPct val="100000"/>
              </a:lnSpc>
              <a:buFont typeface="+mj-lt"/>
              <a:buAutoNum type="arabicPeriod" startAt="6"/>
            </a:pPr>
            <a:r>
              <a:rPr lang="en-US" sz="2800" b="1" dirty="0">
                <a:solidFill>
                  <a:srgbClr val="000000"/>
                </a:solidFill>
                <a:effectLst/>
              </a:rPr>
              <a:t>Determining the span of management</a:t>
            </a:r>
            <a:r>
              <a:rPr lang="en-US" dirty="0"/>
              <a:t> </a:t>
            </a:r>
          </a:p>
          <a:p>
            <a:pPr lvl="1">
              <a:lnSpc>
                <a:spcPct val="100000"/>
              </a:lnSpc>
            </a:pPr>
            <a:r>
              <a:rPr lang="en-US" sz="2800" b="0" dirty="0">
                <a:solidFill>
                  <a:srgbClr val="000000"/>
                </a:solidFill>
                <a:effectLst/>
              </a:rPr>
              <a:t>To determine the number of subordinates who should report directly to each executive.</a:t>
            </a:r>
            <a:r>
              <a:rPr lang="en-US" sz="2800" dirty="0"/>
              <a:t> </a:t>
            </a:r>
          </a:p>
          <a:p>
            <a:pPr marL="0" indent="0">
              <a:lnSpc>
                <a:spcPct val="100000"/>
              </a:lnSpc>
              <a:buNone/>
            </a:pPr>
            <a:endParaRPr lang="en-US" dirty="0"/>
          </a:p>
          <a:p>
            <a:pPr marL="514350" indent="-514350">
              <a:lnSpc>
                <a:spcPct val="100000"/>
              </a:lnSpc>
              <a:buFont typeface="+mj-lt"/>
              <a:buAutoNum type="arabicPeriod" startAt="7"/>
            </a:pPr>
            <a:r>
              <a:rPr lang="en-US" sz="2800" b="1" dirty="0">
                <a:solidFill>
                  <a:srgbClr val="000000"/>
                </a:solidFill>
                <a:effectLst/>
              </a:rPr>
              <a:t>Setting up a coordination mechanism</a:t>
            </a:r>
            <a:r>
              <a:rPr lang="en-US" dirty="0"/>
              <a:t> </a:t>
            </a:r>
          </a:p>
          <a:p>
            <a:pPr lvl="1">
              <a:lnSpc>
                <a:spcPct val="100000"/>
              </a:lnSpc>
            </a:pPr>
            <a:r>
              <a:rPr lang="en-US" sz="2800" b="0" dirty="0">
                <a:solidFill>
                  <a:srgbClr val="000000"/>
                </a:solidFill>
                <a:effectLst/>
              </a:rPr>
              <a:t>A direct consequence of </a:t>
            </a:r>
            <a:r>
              <a:rPr lang="en-US" sz="2800" b="0" dirty="0" err="1">
                <a:solidFill>
                  <a:srgbClr val="000000"/>
                </a:solidFill>
                <a:effectLst/>
              </a:rPr>
              <a:t>departmentalisation</a:t>
            </a:r>
            <a:r>
              <a:rPr lang="en-US" sz="2800" b="0" dirty="0">
                <a:solidFill>
                  <a:srgbClr val="000000"/>
                </a:solidFill>
                <a:effectLst/>
              </a:rPr>
              <a:t> is the need to coordinate the independent activities of the members of the </a:t>
            </a:r>
            <a:r>
              <a:rPr lang="en-US" sz="2800" b="0" dirty="0" err="1">
                <a:solidFill>
                  <a:srgbClr val="000000"/>
                </a:solidFill>
                <a:effectLst/>
              </a:rPr>
              <a:t>organisations</a:t>
            </a:r>
            <a:r>
              <a:rPr lang="en-US" sz="2800" b="0" dirty="0">
                <a:solidFill>
                  <a:srgbClr val="000000"/>
                </a:solidFill>
                <a:effectLst/>
              </a:rPr>
              <a:t>. </a:t>
            </a:r>
          </a:p>
          <a:p>
            <a:pPr lvl="1">
              <a:lnSpc>
                <a:spcPct val="100000"/>
              </a:lnSpc>
            </a:pPr>
            <a:r>
              <a:rPr lang="en-US" sz="2800" b="0" dirty="0">
                <a:solidFill>
                  <a:srgbClr val="000000"/>
                </a:solidFill>
                <a:effectLst/>
              </a:rPr>
              <a:t>As individuals and departments carry out their </a:t>
            </a:r>
            <a:r>
              <a:rPr lang="en-US" sz="2800" b="0" dirty="0" err="1">
                <a:solidFill>
                  <a:srgbClr val="000000"/>
                </a:solidFill>
                <a:effectLst/>
              </a:rPr>
              <a:t>specialised</a:t>
            </a:r>
            <a:r>
              <a:rPr lang="en-US" sz="2800" b="0" dirty="0">
                <a:solidFill>
                  <a:srgbClr val="000000"/>
                </a:solidFill>
                <a:effectLst/>
              </a:rPr>
              <a:t> activities, the overall goals of the </a:t>
            </a:r>
            <a:r>
              <a:rPr lang="en-US" sz="2800" b="0" dirty="0" err="1">
                <a:solidFill>
                  <a:srgbClr val="000000"/>
                </a:solidFill>
                <a:effectLst/>
              </a:rPr>
              <a:t>organisation</a:t>
            </a:r>
            <a:r>
              <a:rPr lang="en-US" sz="2800" b="0" dirty="0">
                <a:solidFill>
                  <a:srgbClr val="000000"/>
                </a:solidFill>
                <a:effectLst/>
              </a:rPr>
              <a:t> may</a:t>
            </a:r>
            <a:r>
              <a:rPr lang="en-US" sz="2800" dirty="0"/>
              <a:t> </a:t>
            </a:r>
            <a:r>
              <a:rPr lang="en-US" sz="2800" b="0" dirty="0">
                <a:solidFill>
                  <a:srgbClr val="000000"/>
                </a:solidFill>
                <a:effectLst/>
              </a:rPr>
              <a:t>become submerged or conflicts among </a:t>
            </a:r>
            <a:r>
              <a:rPr lang="en-US" sz="2800" b="0" dirty="0" err="1">
                <a:solidFill>
                  <a:srgbClr val="000000"/>
                </a:solidFill>
                <a:effectLst/>
              </a:rPr>
              <a:t>organisation</a:t>
            </a:r>
            <a:r>
              <a:rPr lang="en-US" sz="2800" b="0" dirty="0">
                <a:solidFill>
                  <a:srgbClr val="000000"/>
                </a:solidFill>
                <a:effectLst/>
              </a:rPr>
              <a:t> members may develop.</a:t>
            </a:r>
            <a:endParaRPr lang="en-IN" sz="2800" dirty="0"/>
          </a:p>
        </p:txBody>
      </p:sp>
    </p:spTree>
    <p:extLst>
      <p:ext uri="{BB962C8B-B14F-4D97-AF65-F5344CB8AC3E}">
        <p14:creationId xmlns:p14="http://schemas.microsoft.com/office/powerpoint/2010/main" val="52195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EA2DCE-DCC7-44CA-B258-AA90608088A7}"/>
              </a:ext>
            </a:extLst>
          </p:cNvPr>
          <p:cNvSpPr>
            <a:spLocks noGrp="1"/>
          </p:cNvSpPr>
          <p:nvPr>
            <p:ph type="title"/>
          </p:nvPr>
        </p:nvSpPr>
        <p:spPr>
          <a:xfrm>
            <a:off x="705035" y="365126"/>
            <a:ext cx="10648765" cy="638052"/>
          </a:xfrm>
        </p:spPr>
        <p:txBody>
          <a:bodyPr>
            <a:normAutofit/>
          </a:bodyPr>
          <a:lstStyle/>
          <a:p>
            <a:r>
              <a:rPr lang="en-IN" sz="3600" b="1" i="0" dirty="0">
                <a:solidFill>
                  <a:srgbClr val="C00000"/>
                </a:solidFill>
                <a:effectLst/>
                <a:latin typeface="+mn-lt"/>
              </a:rPr>
              <a:t>Principles of Organising</a:t>
            </a:r>
            <a:r>
              <a:rPr lang="en-IN" sz="3600" dirty="0">
                <a:solidFill>
                  <a:srgbClr val="C00000"/>
                </a:solidFill>
                <a:latin typeface="+mn-lt"/>
              </a:rPr>
              <a:t> </a:t>
            </a:r>
          </a:p>
        </p:txBody>
      </p:sp>
      <p:sp>
        <p:nvSpPr>
          <p:cNvPr id="3" name="Content Placeholder 2">
            <a:extLst>
              <a:ext uri="{FF2B5EF4-FFF2-40B4-BE49-F238E27FC236}">
                <a16:creationId xmlns:a16="http://schemas.microsoft.com/office/drawing/2014/main" xmlns="" id="{04166F36-25A7-402C-B121-92F528CECD53}"/>
              </a:ext>
            </a:extLst>
          </p:cNvPr>
          <p:cNvSpPr>
            <a:spLocks noGrp="1"/>
          </p:cNvSpPr>
          <p:nvPr>
            <p:ph idx="1"/>
          </p:nvPr>
        </p:nvSpPr>
        <p:spPr>
          <a:xfrm>
            <a:off x="705035" y="1319089"/>
            <a:ext cx="11004612" cy="5173785"/>
          </a:xfrm>
        </p:spPr>
        <p:txBody>
          <a:bodyPr>
            <a:noAutofit/>
          </a:bodyPr>
          <a:lstStyle/>
          <a:p>
            <a:pPr marL="0" indent="0">
              <a:lnSpc>
                <a:spcPct val="100000"/>
              </a:lnSpc>
              <a:buNone/>
            </a:pPr>
            <a:r>
              <a:rPr lang="en-US" b="1" i="0" dirty="0">
                <a:solidFill>
                  <a:srgbClr val="000000"/>
                </a:solidFill>
                <a:effectLst/>
              </a:rPr>
              <a:t>Objectives</a:t>
            </a:r>
          </a:p>
          <a:p>
            <a:pPr>
              <a:lnSpc>
                <a:spcPct val="100000"/>
              </a:lnSpc>
            </a:pPr>
            <a:r>
              <a:rPr lang="en-US" b="0" i="0" dirty="0">
                <a:solidFill>
                  <a:srgbClr val="000000"/>
                </a:solidFill>
                <a:effectLst/>
              </a:rPr>
              <a:t>The objectives of the enterprise influence the </a:t>
            </a:r>
            <a:r>
              <a:rPr lang="en-US" b="0" i="0" dirty="0" err="1">
                <a:solidFill>
                  <a:srgbClr val="000000"/>
                </a:solidFill>
                <a:effectLst/>
              </a:rPr>
              <a:t>organisation</a:t>
            </a:r>
            <a:r>
              <a:rPr lang="en-US" b="0" i="0" dirty="0">
                <a:solidFill>
                  <a:srgbClr val="000000"/>
                </a:solidFill>
                <a:effectLst/>
              </a:rPr>
              <a:t> structure and hence the objectives of the enterprise should first be clearly defined. </a:t>
            </a:r>
          </a:p>
          <a:p>
            <a:pPr marL="0" indent="0">
              <a:lnSpc>
                <a:spcPct val="100000"/>
              </a:lnSpc>
              <a:buNone/>
            </a:pPr>
            <a:r>
              <a:rPr lang="en-US" b="1" i="0" dirty="0" err="1">
                <a:solidFill>
                  <a:srgbClr val="000000"/>
                </a:solidFill>
                <a:effectLst/>
              </a:rPr>
              <a:t>Specialisation</a:t>
            </a:r>
            <a:r>
              <a:rPr lang="en-US" b="1" i="0" dirty="0">
                <a:solidFill>
                  <a:srgbClr val="000000"/>
                </a:solidFill>
                <a:effectLst/>
              </a:rPr>
              <a:t> </a:t>
            </a:r>
          </a:p>
          <a:p>
            <a:pPr>
              <a:lnSpc>
                <a:spcPct val="100000"/>
              </a:lnSpc>
            </a:pPr>
            <a:r>
              <a:rPr lang="en-US" b="0" i="0" dirty="0">
                <a:solidFill>
                  <a:srgbClr val="000000"/>
                </a:solidFill>
                <a:effectLst/>
              </a:rPr>
              <a:t>The activities of the enterprise should be grouped according to functions and assigned to persons according to their </a:t>
            </a:r>
            <a:r>
              <a:rPr lang="en-US" b="0" i="0" dirty="0" err="1">
                <a:solidFill>
                  <a:srgbClr val="000000"/>
                </a:solidFill>
                <a:effectLst/>
              </a:rPr>
              <a:t>specialisation</a:t>
            </a:r>
            <a:r>
              <a:rPr lang="en-US" b="0" i="0" dirty="0">
                <a:solidFill>
                  <a:srgbClr val="000000"/>
                </a:solidFill>
                <a:effectLst/>
              </a:rPr>
              <a:t>.</a:t>
            </a:r>
            <a:r>
              <a:rPr lang="en-US" dirty="0"/>
              <a:t> </a:t>
            </a:r>
          </a:p>
          <a:p>
            <a:pPr marL="0" indent="0">
              <a:lnSpc>
                <a:spcPct val="100000"/>
              </a:lnSpc>
              <a:buNone/>
            </a:pPr>
            <a:r>
              <a:rPr lang="en-US" b="1" i="0" dirty="0">
                <a:solidFill>
                  <a:srgbClr val="000000"/>
                </a:solidFill>
                <a:effectLst/>
              </a:rPr>
              <a:t>Span of Control </a:t>
            </a:r>
          </a:p>
          <a:p>
            <a:pPr>
              <a:lnSpc>
                <a:spcPct val="100000"/>
              </a:lnSpc>
            </a:pPr>
            <a:r>
              <a:rPr lang="en-US" b="0" i="0" dirty="0">
                <a:solidFill>
                  <a:srgbClr val="000000"/>
                </a:solidFill>
                <a:effectLst/>
              </a:rPr>
              <a:t>As there is a limit to the number of persons that can be supervised effectively by one boss, the span of control should be as far as possible, the minimum. </a:t>
            </a:r>
            <a:r>
              <a:rPr lang="en-US" dirty="0"/>
              <a:t/>
            </a:r>
            <a:br>
              <a:rPr lang="en-US" dirty="0"/>
            </a:b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143260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0C1D417-EC0C-4A31-B989-26CD1683459C}"/>
              </a:ext>
            </a:extLst>
          </p:cNvPr>
          <p:cNvSpPr>
            <a:spLocks noGrp="1"/>
          </p:cNvSpPr>
          <p:nvPr>
            <p:ph idx="1"/>
          </p:nvPr>
        </p:nvSpPr>
        <p:spPr>
          <a:xfrm>
            <a:off x="838199" y="408373"/>
            <a:ext cx="10853691" cy="6125592"/>
          </a:xfrm>
        </p:spPr>
        <p:txBody>
          <a:bodyPr>
            <a:noAutofit/>
          </a:bodyPr>
          <a:lstStyle/>
          <a:p>
            <a:pPr marL="0" indent="0">
              <a:lnSpc>
                <a:spcPct val="100000"/>
              </a:lnSpc>
              <a:buNone/>
            </a:pPr>
            <a:r>
              <a:rPr lang="en-IN" b="1" i="0" dirty="0">
                <a:solidFill>
                  <a:srgbClr val="000000"/>
                </a:solidFill>
                <a:effectLst/>
              </a:rPr>
              <a:t>Management by Exception(MBE) </a:t>
            </a:r>
          </a:p>
          <a:p>
            <a:pPr algn="just">
              <a:lnSpc>
                <a:spcPct val="100000"/>
              </a:lnSpc>
            </a:pPr>
            <a:r>
              <a:rPr lang="en-US" b="0" i="0" dirty="0">
                <a:solidFill>
                  <a:srgbClr val="000000"/>
                </a:solidFill>
                <a:effectLst/>
              </a:rPr>
              <a:t>As the executives at the higher levels have limited time, only exceptionally complex problems should be referred to them and routine matters should be dealt with by the subordinates at lower levels. This will enable the executives at higher levels to devote time to more important and crucial issues.</a:t>
            </a:r>
          </a:p>
          <a:p>
            <a:pPr marL="0" indent="0">
              <a:lnSpc>
                <a:spcPct val="100000"/>
              </a:lnSpc>
              <a:buNone/>
            </a:pPr>
            <a:r>
              <a:rPr lang="en-IN" b="1" i="0" dirty="0">
                <a:solidFill>
                  <a:srgbClr val="000000"/>
                </a:solidFill>
                <a:effectLst/>
              </a:rPr>
              <a:t>Scalar principle</a:t>
            </a:r>
            <a:r>
              <a:rPr lang="en-IN" b="1" dirty="0"/>
              <a:t> or </a:t>
            </a:r>
            <a:r>
              <a:rPr lang="en-IN" b="1" i="0" dirty="0">
                <a:solidFill>
                  <a:srgbClr val="000000"/>
                </a:solidFill>
                <a:effectLst/>
              </a:rPr>
              <a:t>Chain of command</a:t>
            </a:r>
            <a:r>
              <a:rPr lang="en-IN" b="1" dirty="0"/>
              <a:t> </a:t>
            </a:r>
          </a:p>
          <a:p>
            <a:pPr>
              <a:lnSpc>
                <a:spcPct val="100000"/>
              </a:lnSpc>
            </a:pPr>
            <a:r>
              <a:rPr lang="en-US" b="0" i="0" dirty="0">
                <a:solidFill>
                  <a:srgbClr val="000000"/>
                </a:solidFill>
                <a:effectLst/>
              </a:rPr>
              <a:t>The line of authority from the chief executive at the top to the first-line supervisor at the bottom must be clearly defined.</a:t>
            </a:r>
          </a:p>
          <a:p>
            <a:pPr marL="0" indent="0">
              <a:lnSpc>
                <a:spcPct val="100000"/>
              </a:lnSpc>
              <a:buNone/>
            </a:pPr>
            <a:r>
              <a:rPr lang="en-IN" b="1" i="0" dirty="0">
                <a:solidFill>
                  <a:srgbClr val="000000"/>
                </a:solidFill>
                <a:effectLst/>
              </a:rPr>
              <a:t>Unity of Command</a:t>
            </a:r>
            <a:r>
              <a:rPr lang="en-IN" dirty="0"/>
              <a:t> </a:t>
            </a:r>
          </a:p>
          <a:p>
            <a:pPr>
              <a:lnSpc>
                <a:spcPct val="100000"/>
              </a:lnSpc>
            </a:pPr>
            <a:r>
              <a:rPr lang="en-US" b="0" i="0" dirty="0">
                <a:solidFill>
                  <a:srgbClr val="000000"/>
                </a:solidFill>
                <a:effectLst/>
              </a:rPr>
              <a:t>Each subordinate should have only one superior whose command he has to obey.</a:t>
            </a:r>
            <a:r>
              <a:rPr lang="en-US" dirty="0"/>
              <a:t/>
            </a:r>
            <a:br>
              <a:rPr lang="en-US" dirty="0"/>
            </a:br>
            <a:r>
              <a:rPr lang="en-IN" dirty="0"/>
              <a:t/>
            </a:r>
            <a:br>
              <a:rPr lang="en-IN" dirty="0"/>
            </a:br>
            <a:r>
              <a:rPr lang="en-US" dirty="0"/>
              <a:t> </a:t>
            </a:r>
            <a:br>
              <a:rPr lang="en-US" dirty="0"/>
            </a:br>
            <a:r>
              <a:rPr lang="en-IN" dirty="0"/>
              <a:t/>
            </a:r>
            <a:br>
              <a:rPr lang="en-IN" dirty="0"/>
            </a:br>
            <a:endParaRPr lang="en-IN" dirty="0"/>
          </a:p>
        </p:txBody>
      </p:sp>
    </p:spTree>
    <p:extLst>
      <p:ext uri="{BB962C8B-B14F-4D97-AF65-F5344CB8AC3E}">
        <p14:creationId xmlns:p14="http://schemas.microsoft.com/office/powerpoint/2010/main" val="5567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7C91EE4-6094-4367-90C8-02B51542059A}"/>
              </a:ext>
            </a:extLst>
          </p:cNvPr>
          <p:cNvSpPr>
            <a:spLocks noGrp="1"/>
          </p:cNvSpPr>
          <p:nvPr>
            <p:ph idx="1"/>
          </p:nvPr>
        </p:nvSpPr>
        <p:spPr>
          <a:xfrm>
            <a:off x="642521" y="328474"/>
            <a:ext cx="10906957" cy="5953749"/>
          </a:xfrm>
        </p:spPr>
        <p:txBody>
          <a:bodyPr>
            <a:normAutofit/>
          </a:bodyPr>
          <a:lstStyle/>
          <a:p>
            <a:pPr marL="0" indent="0">
              <a:lnSpc>
                <a:spcPct val="100000"/>
              </a:lnSpc>
              <a:buNone/>
            </a:pPr>
            <a:r>
              <a:rPr lang="en-IN" sz="2800" b="1" i="0" dirty="0">
                <a:solidFill>
                  <a:srgbClr val="000000"/>
                </a:solidFill>
                <a:effectLst/>
              </a:rPr>
              <a:t>Delegation</a:t>
            </a:r>
            <a:r>
              <a:rPr lang="en-IN" sz="2800" dirty="0"/>
              <a:t> </a:t>
            </a:r>
          </a:p>
          <a:p>
            <a:pPr>
              <a:lnSpc>
                <a:spcPct val="100000"/>
              </a:lnSpc>
            </a:pPr>
            <a:r>
              <a:rPr lang="en-US" sz="2800" b="0" i="0" dirty="0">
                <a:solidFill>
                  <a:srgbClr val="000000"/>
                </a:solidFill>
                <a:effectLst/>
              </a:rPr>
              <a:t>The authority delegated should be equal to responsibility, i.e., each manager should have enough authority to accomplish the task assigned to him.</a:t>
            </a:r>
          </a:p>
          <a:p>
            <a:pPr>
              <a:lnSpc>
                <a:spcPct val="100000"/>
              </a:lnSpc>
            </a:pPr>
            <a:endParaRPr lang="en-US" sz="2800" b="0" i="0" dirty="0">
              <a:solidFill>
                <a:srgbClr val="000000"/>
              </a:solidFill>
              <a:effectLst/>
            </a:endParaRPr>
          </a:p>
          <a:p>
            <a:pPr marL="0" indent="0">
              <a:lnSpc>
                <a:spcPct val="100000"/>
              </a:lnSpc>
              <a:buNone/>
            </a:pPr>
            <a:r>
              <a:rPr lang="en-IN" sz="2800" b="1" i="0" dirty="0">
                <a:solidFill>
                  <a:srgbClr val="000000"/>
                </a:solidFill>
                <a:effectLst/>
              </a:rPr>
              <a:t>Responsibility</a:t>
            </a:r>
            <a:r>
              <a:rPr lang="en-IN" dirty="0"/>
              <a:t> </a:t>
            </a:r>
          </a:p>
          <a:p>
            <a:pPr>
              <a:lnSpc>
                <a:spcPct val="100000"/>
              </a:lnSpc>
            </a:pPr>
            <a:r>
              <a:rPr lang="en-US" sz="2800" b="0" i="0" dirty="0">
                <a:solidFill>
                  <a:srgbClr val="000000"/>
                </a:solidFill>
                <a:effectLst/>
              </a:rPr>
              <a:t>The superior should be held responsible for the acts of his subordinates.</a:t>
            </a:r>
          </a:p>
          <a:p>
            <a:pPr marL="0" indent="0">
              <a:lnSpc>
                <a:spcPct val="100000"/>
              </a:lnSpc>
              <a:buNone/>
            </a:pPr>
            <a:r>
              <a:rPr lang="en-US" sz="2800" b="0" i="0" dirty="0">
                <a:solidFill>
                  <a:srgbClr val="000000"/>
                </a:solidFill>
                <a:effectLst/>
              </a:rPr>
              <a:t> </a:t>
            </a:r>
          </a:p>
          <a:p>
            <a:pPr marL="0" indent="0">
              <a:lnSpc>
                <a:spcPct val="100000"/>
              </a:lnSpc>
              <a:buNone/>
            </a:pPr>
            <a:r>
              <a:rPr lang="en-IN" sz="2800" b="1" i="0" dirty="0">
                <a:solidFill>
                  <a:srgbClr val="000000"/>
                </a:solidFill>
                <a:effectLst/>
              </a:rPr>
              <a:t>Authority </a:t>
            </a:r>
          </a:p>
          <a:p>
            <a:pPr>
              <a:lnSpc>
                <a:spcPct val="100000"/>
              </a:lnSpc>
            </a:pPr>
            <a:r>
              <a:rPr lang="en-US" sz="2800" b="0" i="0" dirty="0">
                <a:solidFill>
                  <a:srgbClr val="000000"/>
                </a:solidFill>
                <a:effectLst/>
              </a:rPr>
              <a:t>The authority is the tool by which a manager is able to accomplish the desired objective.</a:t>
            </a:r>
            <a:r>
              <a:rPr lang="en-US" dirty="0"/>
              <a:t> </a:t>
            </a:r>
          </a:p>
          <a:p>
            <a:pPr>
              <a:lnSpc>
                <a:spcPct val="100000"/>
              </a:lnSpc>
            </a:pPr>
            <a:endParaRPr lang="en-IN" dirty="0"/>
          </a:p>
        </p:txBody>
      </p:sp>
    </p:spTree>
    <p:extLst>
      <p:ext uri="{BB962C8B-B14F-4D97-AF65-F5344CB8AC3E}">
        <p14:creationId xmlns:p14="http://schemas.microsoft.com/office/powerpoint/2010/main" val="50572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7BCEDF1-62B7-45D6-84F8-D70B0130DFF6}"/>
              </a:ext>
            </a:extLst>
          </p:cNvPr>
          <p:cNvSpPr>
            <a:spLocks noGrp="1"/>
          </p:cNvSpPr>
          <p:nvPr>
            <p:ph idx="1"/>
          </p:nvPr>
        </p:nvSpPr>
        <p:spPr>
          <a:xfrm>
            <a:off x="838200" y="479394"/>
            <a:ext cx="10515600" cy="5697569"/>
          </a:xfrm>
        </p:spPr>
        <p:txBody>
          <a:bodyPr>
            <a:noAutofit/>
          </a:bodyPr>
          <a:lstStyle/>
          <a:p>
            <a:pPr marL="0" indent="0">
              <a:lnSpc>
                <a:spcPct val="100000"/>
              </a:lnSpc>
              <a:buNone/>
            </a:pPr>
            <a:r>
              <a:rPr lang="en-IN" b="1" i="0" dirty="0">
                <a:solidFill>
                  <a:srgbClr val="000000"/>
                </a:solidFill>
                <a:effectLst/>
              </a:rPr>
              <a:t>Efficiency</a:t>
            </a:r>
            <a:r>
              <a:rPr lang="en-IN" dirty="0"/>
              <a:t> </a:t>
            </a:r>
          </a:p>
          <a:p>
            <a:pPr>
              <a:lnSpc>
                <a:spcPct val="100000"/>
              </a:lnSpc>
            </a:pPr>
            <a:r>
              <a:rPr lang="en-US" b="0" i="0" dirty="0">
                <a:solidFill>
                  <a:srgbClr val="000000"/>
                </a:solidFill>
                <a:effectLst/>
              </a:rPr>
              <a:t>The </a:t>
            </a:r>
            <a:r>
              <a:rPr lang="en-US" b="0" i="0" dirty="0" err="1">
                <a:solidFill>
                  <a:srgbClr val="000000"/>
                </a:solidFill>
                <a:effectLst/>
              </a:rPr>
              <a:t>organisation</a:t>
            </a:r>
            <a:r>
              <a:rPr lang="en-US" b="0" i="0" dirty="0">
                <a:solidFill>
                  <a:srgbClr val="000000"/>
                </a:solidFill>
                <a:effectLst/>
              </a:rPr>
              <a:t> structure should enable the enterprise to function efficiently and accomplish its objectives with the lowest possible cost.</a:t>
            </a:r>
          </a:p>
          <a:p>
            <a:pPr marL="0" indent="0">
              <a:lnSpc>
                <a:spcPct val="100000"/>
              </a:lnSpc>
              <a:buNone/>
            </a:pPr>
            <a:r>
              <a:rPr lang="en-US" dirty="0"/>
              <a:t> </a:t>
            </a:r>
          </a:p>
          <a:p>
            <a:pPr marL="0" indent="0">
              <a:lnSpc>
                <a:spcPct val="100000"/>
              </a:lnSpc>
              <a:buNone/>
            </a:pPr>
            <a:r>
              <a:rPr lang="en-US" b="1" i="0" dirty="0">
                <a:solidFill>
                  <a:srgbClr val="000000"/>
                </a:solidFill>
                <a:effectLst/>
              </a:rPr>
              <a:t>Simplicity </a:t>
            </a:r>
          </a:p>
          <a:p>
            <a:pPr>
              <a:lnSpc>
                <a:spcPct val="100000"/>
              </a:lnSpc>
            </a:pPr>
            <a:r>
              <a:rPr lang="en-US" b="0" i="0" dirty="0">
                <a:solidFill>
                  <a:srgbClr val="000000"/>
                </a:solidFill>
                <a:effectLst/>
              </a:rPr>
              <a:t>The </a:t>
            </a:r>
            <a:r>
              <a:rPr lang="en-US" b="0" i="0" dirty="0" err="1">
                <a:solidFill>
                  <a:srgbClr val="000000"/>
                </a:solidFill>
                <a:effectLst/>
              </a:rPr>
              <a:t>organisation</a:t>
            </a:r>
            <a:r>
              <a:rPr lang="en-US" b="0" i="0" dirty="0">
                <a:solidFill>
                  <a:srgbClr val="000000"/>
                </a:solidFill>
                <a:effectLst/>
              </a:rPr>
              <a:t> structure should be as simple as possible and the </a:t>
            </a:r>
            <a:r>
              <a:rPr lang="en-US" b="0" i="0" dirty="0" err="1">
                <a:solidFill>
                  <a:srgbClr val="000000"/>
                </a:solidFill>
                <a:effectLst/>
              </a:rPr>
              <a:t>organisation</a:t>
            </a:r>
            <a:r>
              <a:rPr lang="en-US" b="0" i="0" dirty="0">
                <a:solidFill>
                  <a:srgbClr val="000000"/>
                </a:solidFill>
                <a:effectLst/>
              </a:rPr>
              <a:t> levels should, as far as possible, be minimum. </a:t>
            </a:r>
          </a:p>
          <a:p>
            <a:pPr marL="0" indent="0">
              <a:lnSpc>
                <a:spcPct val="100000"/>
              </a:lnSpc>
              <a:buNone/>
            </a:pPr>
            <a:endParaRPr lang="en-US" b="0" i="0" dirty="0">
              <a:solidFill>
                <a:srgbClr val="000000"/>
              </a:solidFill>
              <a:effectLst/>
            </a:endParaRPr>
          </a:p>
          <a:p>
            <a:pPr marL="0" indent="0">
              <a:lnSpc>
                <a:spcPct val="100000"/>
              </a:lnSpc>
              <a:buNone/>
            </a:pPr>
            <a:r>
              <a:rPr lang="en-IN" b="1" i="0" dirty="0">
                <a:solidFill>
                  <a:srgbClr val="000000"/>
                </a:solidFill>
                <a:effectLst/>
              </a:rPr>
              <a:t>Flexibility </a:t>
            </a:r>
          </a:p>
          <a:p>
            <a:pPr>
              <a:lnSpc>
                <a:spcPct val="100000"/>
              </a:lnSpc>
            </a:pPr>
            <a:r>
              <a:rPr lang="en-US" b="0" i="0" dirty="0">
                <a:solidFill>
                  <a:srgbClr val="000000"/>
                </a:solidFill>
                <a:effectLst/>
              </a:rPr>
              <a:t>The </a:t>
            </a:r>
            <a:r>
              <a:rPr lang="en-US" b="0" i="0" dirty="0" err="1">
                <a:solidFill>
                  <a:srgbClr val="000000"/>
                </a:solidFill>
                <a:effectLst/>
              </a:rPr>
              <a:t>organisation</a:t>
            </a:r>
            <a:r>
              <a:rPr lang="en-US" b="0" i="0" dirty="0">
                <a:solidFill>
                  <a:srgbClr val="000000"/>
                </a:solidFill>
                <a:effectLst/>
              </a:rPr>
              <a:t> should be adaptable to changing circumstances.</a:t>
            </a:r>
            <a:r>
              <a:rPr lang="en-US" dirty="0"/>
              <a:t> </a:t>
            </a:r>
            <a:br>
              <a:rPr lang="en-US" dirty="0"/>
            </a:br>
            <a:r>
              <a:rPr lang="en-US" dirty="0"/>
              <a:t/>
            </a:r>
            <a:br>
              <a:rPr lang="en-US" dirty="0"/>
            </a:br>
            <a:r>
              <a:rPr lang="en-IN" dirty="0"/>
              <a:t/>
            </a:r>
            <a:br>
              <a:rPr lang="en-IN" dirty="0"/>
            </a:br>
            <a:r>
              <a:rPr lang="en-US" dirty="0"/>
              <a:t/>
            </a:r>
            <a:br>
              <a:rPr lang="en-US" dirty="0"/>
            </a:br>
            <a:r>
              <a:rPr lang="en-IN" dirty="0"/>
              <a:t/>
            </a:r>
            <a:br>
              <a:rPr lang="en-IN" dirty="0"/>
            </a:br>
            <a:r>
              <a:rPr lang="en-US" dirty="0"/>
              <a:t/>
            </a:r>
            <a:br>
              <a:rPr lang="en-US" dirty="0"/>
            </a:br>
            <a:r>
              <a:rPr lang="en-IN" dirty="0"/>
              <a:t/>
            </a:r>
            <a:br>
              <a:rPr lang="en-IN" dirty="0"/>
            </a:br>
            <a:endParaRPr lang="en-IN" dirty="0"/>
          </a:p>
        </p:txBody>
      </p:sp>
    </p:spTree>
    <p:extLst>
      <p:ext uri="{BB962C8B-B14F-4D97-AF65-F5344CB8AC3E}">
        <p14:creationId xmlns:p14="http://schemas.microsoft.com/office/powerpoint/2010/main" val="283072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FAE91B1-BB11-4C48-ADA5-4036B6D196FE}"/>
              </a:ext>
            </a:extLst>
          </p:cNvPr>
          <p:cNvSpPr>
            <a:spLocks noGrp="1"/>
          </p:cNvSpPr>
          <p:nvPr>
            <p:ph idx="1"/>
          </p:nvPr>
        </p:nvSpPr>
        <p:spPr>
          <a:xfrm>
            <a:off x="838200" y="399495"/>
            <a:ext cx="10515600" cy="5777468"/>
          </a:xfrm>
        </p:spPr>
        <p:txBody>
          <a:bodyPr>
            <a:noAutofit/>
          </a:bodyPr>
          <a:lstStyle/>
          <a:p>
            <a:pPr marL="0" indent="0">
              <a:lnSpc>
                <a:spcPct val="100000"/>
              </a:lnSpc>
              <a:buNone/>
            </a:pPr>
            <a:r>
              <a:rPr lang="en-IN" b="1" i="0" dirty="0">
                <a:solidFill>
                  <a:srgbClr val="000000"/>
                </a:solidFill>
                <a:effectLst/>
              </a:rPr>
              <a:t>Balance </a:t>
            </a:r>
          </a:p>
          <a:p>
            <a:pPr>
              <a:lnSpc>
                <a:spcPct val="100000"/>
              </a:lnSpc>
            </a:pPr>
            <a:r>
              <a:rPr lang="en-US" b="0" i="0" dirty="0">
                <a:solidFill>
                  <a:srgbClr val="000000"/>
                </a:solidFill>
                <a:effectLst/>
              </a:rPr>
              <a:t>There should be a reasonable balance in the size of various departments, between </a:t>
            </a:r>
            <a:r>
              <a:rPr lang="en-US" b="0" i="0" dirty="0" err="1">
                <a:solidFill>
                  <a:srgbClr val="000000"/>
                </a:solidFill>
                <a:effectLst/>
              </a:rPr>
              <a:t>centralisation</a:t>
            </a:r>
            <a:r>
              <a:rPr lang="en-US" b="0" i="0" dirty="0">
                <a:solidFill>
                  <a:srgbClr val="000000"/>
                </a:solidFill>
                <a:effectLst/>
              </a:rPr>
              <a:t> and </a:t>
            </a:r>
            <a:r>
              <a:rPr lang="en-US" b="0" i="0" dirty="0" err="1">
                <a:solidFill>
                  <a:srgbClr val="000000"/>
                </a:solidFill>
                <a:effectLst/>
              </a:rPr>
              <a:t>decentralisation</a:t>
            </a:r>
            <a:r>
              <a:rPr lang="en-US" b="0" i="0" dirty="0">
                <a:solidFill>
                  <a:srgbClr val="000000"/>
                </a:solidFill>
                <a:effectLst/>
              </a:rPr>
              <a:t>, between the principle of span of control and the short chain of command,</a:t>
            </a:r>
            <a:br>
              <a:rPr lang="en-US" b="0" i="0" dirty="0">
                <a:solidFill>
                  <a:srgbClr val="000000"/>
                </a:solidFill>
                <a:effectLst/>
              </a:rPr>
            </a:br>
            <a:r>
              <a:rPr lang="en-US" b="0" i="0" dirty="0">
                <a:solidFill>
                  <a:srgbClr val="000000"/>
                </a:solidFill>
                <a:effectLst/>
              </a:rPr>
              <a:t>and among all types of factors such as human, technical and financial.</a:t>
            </a:r>
            <a:r>
              <a:rPr lang="en-US" dirty="0"/>
              <a:t> </a:t>
            </a:r>
          </a:p>
          <a:p>
            <a:pPr marL="0" indent="0">
              <a:lnSpc>
                <a:spcPct val="100000"/>
              </a:lnSpc>
              <a:buNone/>
            </a:pPr>
            <a:endParaRPr lang="en-US" dirty="0"/>
          </a:p>
          <a:p>
            <a:pPr marL="0" indent="0">
              <a:lnSpc>
                <a:spcPct val="100000"/>
              </a:lnSpc>
              <a:buNone/>
            </a:pPr>
            <a:r>
              <a:rPr lang="en-US" b="1" i="0" dirty="0">
                <a:solidFill>
                  <a:srgbClr val="000000"/>
                </a:solidFill>
                <a:effectLst/>
              </a:rPr>
              <a:t>Unity of Direction </a:t>
            </a:r>
          </a:p>
          <a:p>
            <a:pPr>
              <a:lnSpc>
                <a:spcPct val="100000"/>
              </a:lnSpc>
            </a:pPr>
            <a:r>
              <a:rPr lang="en-US" b="0" i="0" dirty="0">
                <a:solidFill>
                  <a:srgbClr val="000000"/>
                </a:solidFill>
                <a:effectLst/>
              </a:rPr>
              <a:t>There should be one objective and one plan for a group of activities having the same objective.</a:t>
            </a:r>
            <a:r>
              <a:rPr lang="en-US" dirty="0"/>
              <a:t> </a:t>
            </a:r>
          </a:p>
          <a:p>
            <a:pPr marL="0" indent="0">
              <a:lnSpc>
                <a:spcPct val="100000"/>
              </a:lnSpc>
              <a:buNone/>
            </a:pPr>
            <a:r>
              <a:rPr lang="en-US" dirty="0"/>
              <a:t/>
            </a:r>
            <a:br>
              <a:rPr lang="en-US" dirty="0"/>
            </a:br>
            <a:r>
              <a:rPr lang="en-US" dirty="0"/>
              <a:t/>
            </a:r>
            <a:br>
              <a:rPr lang="en-US" dirty="0"/>
            </a:br>
            <a:r>
              <a:rPr lang="en-US" dirty="0"/>
              <a:t/>
            </a:r>
            <a:br>
              <a:rPr lang="en-US" dirty="0"/>
            </a:br>
            <a:r>
              <a:rPr lang="en-US" dirty="0"/>
              <a:t/>
            </a:r>
            <a:br>
              <a:rPr lang="en-US" dirty="0"/>
            </a:br>
            <a:r>
              <a:rPr lang="en-IN" dirty="0"/>
              <a:t/>
            </a:r>
            <a:br>
              <a:rPr lang="en-IN" dirty="0"/>
            </a:br>
            <a:r>
              <a:rPr lang="en-US" dirty="0"/>
              <a:t/>
            </a:r>
            <a:br>
              <a:rPr lang="en-US" dirty="0"/>
            </a:br>
            <a:r>
              <a:rPr lang="en-IN" dirty="0"/>
              <a:t/>
            </a:r>
            <a:br>
              <a:rPr lang="en-IN" dirty="0"/>
            </a:br>
            <a:endParaRPr lang="en-IN" dirty="0"/>
          </a:p>
        </p:txBody>
      </p:sp>
    </p:spTree>
    <p:extLst>
      <p:ext uri="{BB962C8B-B14F-4D97-AF65-F5344CB8AC3E}">
        <p14:creationId xmlns:p14="http://schemas.microsoft.com/office/powerpoint/2010/main" val="161652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1452CFD-A101-471C-9FE5-A6BECCCD0B66}"/>
              </a:ext>
            </a:extLst>
          </p:cNvPr>
          <p:cNvSpPr>
            <a:spLocks noGrp="1"/>
          </p:cNvSpPr>
          <p:nvPr>
            <p:ph idx="1"/>
          </p:nvPr>
        </p:nvSpPr>
        <p:spPr>
          <a:xfrm>
            <a:off x="838200" y="621437"/>
            <a:ext cx="10515600" cy="5555526"/>
          </a:xfrm>
        </p:spPr>
        <p:txBody>
          <a:bodyPr/>
          <a:lstStyle/>
          <a:p>
            <a:pPr marL="0" indent="0">
              <a:lnSpc>
                <a:spcPct val="100000"/>
              </a:lnSpc>
              <a:buNone/>
            </a:pPr>
            <a:r>
              <a:rPr lang="en-US" b="1" i="0" dirty="0">
                <a:solidFill>
                  <a:srgbClr val="000000"/>
                </a:solidFill>
                <a:effectLst/>
              </a:rPr>
              <a:t>Personal Ability </a:t>
            </a:r>
          </a:p>
          <a:p>
            <a:pPr>
              <a:lnSpc>
                <a:spcPct val="100000"/>
              </a:lnSpc>
            </a:pPr>
            <a:r>
              <a:rPr lang="en-US" b="0" i="0" dirty="0">
                <a:solidFill>
                  <a:srgbClr val="000000"/>
                </a:solidFill>
                <a:effectLst/>
              </a:rPr>
              <a:t>As people constitute an </a:t>
            </a:r>
            <a:r>
              <a:rPr lang="en-US" b="0" i="0" dirty="0" err="1">
                <a:solidFill>
                  <a:srgbClr val="000000"/>
                </a:solidFill>
                <a:effectLst/>
              </a:rPr>
              <a:t>organisation</a:t>
            </a:r>
            <a:r>
              <a:rPr lang="en-US" b="0" i="0" dirty="0">
                <a:solidFill>
                  <a:srgbClr val="000000"/>
                </a:solidFill>
                <a:effectLst/>
              </a:rPr>
              <a:t>, there is need for proper selection, placement and training of staff.</a:t>
            </a:r>
            <a:r>
              <a:rPr lang="en-US" dirty="0"/>
              <a:t> </a:t>
            </a:r>
          </a:p>
          <a:p>
            <a:pPr>
              <a:lnSpc>
                <a:spcPct val="100000"/>
              </a:lnSpc>
            </a:pPr>
            <a:endParaRPr lang="en-US" dirty="0"/>
          </a:p>
          <a:p>
            <a:pPr marL="0" indent="0">
              <a:lnSpc>
                <a:spcPct val="100000"/>
              </a:lnSpc>
              <a:buNone/>
            </a:pPr>
            <a:r>
              <a:rPr lang="en-US" b="1" i="0" dirty="0">
                <a:solidFill>
                  <a:srgbClr val="000000"/>
                </a:solidFill>
                <a:effectLst/>
              </a:rPr>
              <a:t>Acceptability </a:t>
            </a:r>
          </a:p>
          <a:p>
            <a:pPr>
              <a:lnSpc>
                <a:spcPct val="100000"/>
              </a:lnSpc>
            </a:pPr>
            <a:r>
              <a:rPr lang="en-US" b="0" i="0" dirty="0">
                <a:solidFill>
                  <a:srgbClr val="000000"/>
                </a:solidFill>
                <a:effectLst/>
              </a:rPr>
              <a:t>The structure of the </a:t>
            </a:r>
            <a:r>
              <a:rPr lang="en-US" b="0" i="0" dirty="0" err="1">
                <a:solidFill>
                  <a:srgbClr val="000000"/>
                </a:solidFill>
                <a:effectLst/>
              </a:rPr>
              <a:t>organisation</a:t>
            </a:r>
            <a:r>
              <a:rPr lang="en-US" b="0" i="0" dirty="0">
                <a:solidFill>
                  <a:srgbClr val="000000"/>
                </a:solidFill>
                <a:effectLst/>
              </a:rPr>
              <a:t> should be acceptable to the people who constitute it.</a:t>
            </a:r>
            <a:endParaRPr lang="en-IN" dirty="0"/>
          </a:p>
        </p:txBody>
      </p:sp>
    </p:spTree>
    <p:extLst>
      <p:ext uri="{BB962C8B-B14F-4D97-AF65-F5344CB8AC3E}">
        <p14:creationId xmlns:p14="http://schemas.microsoft.com/office/powerpoint/2010/main" val="122561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2AA763-8AF2-4433-9556-9C8B80A21956}"/>
              </a:ext>
            </a:extLst>
          </p:cNvPr>
          <p:cNvSpPr>
            <a:spLocks noGrp="1"/>
          </p:cNvSpPr>
          <p:nvPr>
            <p:ph type="title"/>
          </p:nvPr>
        </p:nvSpPr>
        <p:spPr>
          <a:xfrm>
            <a:off x="838200" y="365125"/>
            <a:ext cx="10515600" cy="815605"/>
          </a:xfrm>
        </p:spPr>
        <p:txBody>
          <a:bodyPr>
            <a:normAutofit/>
          </a:bodyPr>
          <a:lstStyle/>
          <a:p>
            <a:r>
              <a:rPr lang="en-IN" sz="3600" b="1" i="0" dirty="0">
                <a:solidFill>
                  <a:srgbClr val="C00000"/>
                </a:solidFill>
                <a:effectLst/>
                <a:latin typeface="+mn-lt"/>
              </a:rPr>
              <a:t>Span of Management</a:t>
            </a:r>
            <a:r>
              <a:rPr lang="en-IN" sz="3600" dirty="0">
                <a:solidFill>
                  <a:srgbClr val="C00000"/>
                </a:solidFill>
                <a:latin typeface="+mn-lt"/>
              </a:rPr>
              <a:t> or </a:t>
            </a:r>
            <a:r>
              <a:rPr lang="en-IN" sz="3600" b="1" i="0" dirty="0">
                <a:solidFill>
                  <a:srgbClr val="C00000"/>
                </a:solidFill>
                <a:effectLst/>
                <a:latin typeface="+mn-lt"/>
              </a:rPr>
              <a:t>Span of Control</a:t>
            </a:r>
            <a:r>
              <a:rPr lang="en-IN" sz="3600" dirty="0">
                <a:solidFill>
                  <a:srgbClr val="C00000"/>
                </a:solidFill>
                <a:latin typeface="+mn-lt"/>
              </a:rPr>
              <a:t> </a:t>
            </a:r>
          </a:p>
        </p:txBody>
      </p:sp>
      <p:sp>
        <p:nvSpPr>
          <p:cNvPr id="3" name="Content Placeholder 2">
            <a:extLst>
              <a:ext uri="{FF2B5EF4-FFF2-40B4-BE49-F238E27FC236}">
                <a16:creationId xmlns:a16="http://schemas.microsoft.com/office/drawing/2014/main" xmlns="" id="{7B55A1B8-9C1F-4013-B527-E3B6177CE81C}"/>
              </a:ext>
            </a:extLst>
          </p:cNvPr>
          <p:cNvSpPr>
            <a:spLocks noGrp="1"/>
          </p:cNvSpPr>
          <p:nvPr>
            <p:ph idx="1"/>
          </p:nvPr>
        </p:nvSpPr>
        <p:spPr>
          <a:xfrm>
            <a:off x="838199" y="1384917"/>
            <a:ext cx="10809303" cy="4792046"/>
          </a:xfrm>
        </p:spPr>
        <p:txBody>
          <a:bodyPr>
            <a:noAutofit/>
          </a:bodyPr>
          <a:lstStyle/>
          <a:p>
            <a:pPr>
              <a:lnSpc>
                <a:spcPct val="100000"/>
              </a:lnSpc>
            </a:pPr>
            <a:r>
              <a:rPr lang="en-US" b="0" dirty="0">
                <a:solidFill>
                  <a:srgbClr val="000000"/>
                </a:solidFill>
                <a:effectLst/>
              </a:rPr>
              <a:t>It indicates the number of subordinates who report directly to a manager.</a:t>
            </a:r>
            <a:r>
              <a:rPr lang="en-US" dirty="0"/>
              <a:t> </a:t>
            </a:r>
          </a:p>
          <a:p>
            <a:pPr>
              <a:lnSpc>
                <a:spcPct val="100000"/>
              </a:lnSpc>
            </a:pPr>
            <a:r>
              <a:rPr lang="en-US" b="0" i="0" dirty="0">
                <a:solidFill>
                  <a:srgbClr val="000000"/>
                </a:solidFill>
                <a:effectLst/>
              </a:rPr>
              <a:t>Determination of an appropriate span of management is important. </a:t>
            </a:r>
          </a:p>
          <a:p>
            <a:pPr>
              <a:lnSpc>
                <a:spcPct val="100000"/>
              </a:lnSpc>
            </a:pPr>
            <a:r>
              <a:rPr lang="en-US" b="0" i="0" dirty="0">
                <a:solidFill>
                  <a:srgbClr val="000000"/>
                </a:solidFill>
                <a:effectLst/>
              </a:rPr>
              <a:t>Span of management affects the efficient </a:t>
            </a:r>
            <a:r>
              <a:rPr lang="en-US" b="0" i="0" dirty="0" err="1">
                <a:solidFill>
                  <a:srgbClr val="000000"/>
                </a:solidFill>
                <a:effectLst/>
              </a:rPr>
              <a:t>utilisation</a:t>
            </a:r>
            <a:r>
              <a:rPr lang="en-US" b="0" i="0" dirty="0">
                <a:solidFill>
                  <a:srgbClr val="000000"/>
                </a:solidFill>
                <a:effectLst/>
              </a:rPr>
              <a:t> of managers and the effective performance of their subordinates. </a:t>
            </a:r>
          </a:p>
          <a:p>
            <a:pPr>
              <a:lnSpc>
                <a:spcPct val="100000"/>
              </a:lnSpc>
            </a:pPr>
            <a:r>
              <a:rPr lang="en-US" b="0" i="0" dirty="0">
                <a:solidFill>
                  <a:srgbClr val="000000"/>
                </a:solidFill>
                <a:effectLst/>
              </a:rPr>
              <a:t>Too wide a span may mean that managers are overstraining themselves and that their subordinates are receiving too little guidance or control. </a:t>
            </a:r>
          </a:p>
          <a:p>
            <a:pPr>
              <a:lnSpc>
                <a:spcPct val="100000"/>
              </a:lnSpc>
            </a:pPr>
            <a:r>
              <a:rPr lang="en-US" b="0" i="0" dirty="0">
                <a:solidFill>
                  <a:srgbClr val="000000"/>
                </a:solidFill>
                <a:effectLst/>
              </a:rPr>
              <a:t>Too narrow a span of management may mean that managers are </a:t>
            </a:r>
            <a:r>
              <a:rPr lang="en-US" b="0" i="0" dirty="0" err="1">
                <a:solidFill>
                  <a:srgbClr val="000000"/>
                </a:solidFill>
                <a:effectLst/>
              </a:rPr>
              <a:t>underutilised</a:t>
            </a:r>
            <a:r>
              <a:rPr lang="en-US" b="0" i="0" dirty="0">
                <a:solidFill>
                  <a:srgbClr val="000000"/>
                </a:solidFill>
                <a:effectLst/>
              </a:rPr>
              <a:t> and that their subordinates are overcontrolled. </a:t>
            </a:r>
            <a:r>
              <a:rPr lang="en-US" dirty="0"/>
              <a:t/>
            </a:r>
            <a:br>
              <a:rPr lang="en-US" dirty="0"/>
            </a:b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81215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2DDE32F-5E7A-413C-9AC0-16DC408BF876}"/>
              </a:ext>
            </a:extLst>
          </p:cNvPr>
          <p:cNvSpPr>
            <a:spLocks noGrp="1"/>
          </p:cNvSpPr>
          <p:nvPr>
            <p:ph idx="1"/>
          </p:nvPr>
        </p:nvSpPr>
        <p:spPr>
          <a:xfrm>
            <a:off x="838200" y="745724"/>
            <a:ext cx="10515600" cy="5431239"/>
          </a:xfrm>
        </p:spPr>
        <p:txBody>
          <a:bodyPr/>
          <a:lstStyle/>
          <a:p>
            <a:pPr>
              <a:lnSpc>
                <a:spcPct val="100000"/>
              </a:lnSpc>
            </a:pPr>
            <a:r>
              <a:rPr lang="en-US" sz="2800" b="0" i="0" dirty="0">
                <a:solidFill>
                  <a:srgbClr val="000000"/>
                </a:solidFill>
                <a:effectLst/>
              </a:rPr>
              <a:t>There is a relationship between span of management and </a:t>
            </a:r>
            <a:r>
              <a:rPr lang="en-US" sz="2800" b="0" i="0" dirty="0" err="1">
                <a:solidFill>
                  <a:srgbClr val="000000"/>
                </a:solidFill>
                <a:effectLst/>
              </a:rPr>
              <a:t>organisation</a:t>
            </a:r>
            <a:r>
              <a:rPr lang="en-US" sz="2800" b="0" i="0" dirty="0">
                <a:solidFill>
                  <a:srgbClr val="000000"/>
                </a:solidFill>
                <a:effectLst/>
              </a:rPr>
              <a:t> structure.</a:t>
            </a:r>
          </a:p>
          <a:p>
            <a:pPr>
              <a:lnSpc>
                <a:spcPct val="100000"/>
              </a:lnSpc>
            </a:pPr>
            <a:r>
              <a:rPr lang="en-US" sz="2800" b="0" i="0" dirty="0">
                <a:solidFill>
                  <a:srgbClr val="000000"/>
                </a:solidFill>
                <a:effectLst/>
              </a:rPr>
              <a:t>A narrow span of management results in a tall</a:t>
            </a:r>
            <a:r>
              <a:rPr lang="en-US" sz="2800" dirty="0">
                <a:solidFill>
                  <a:srgbClr val="000000"/>
                </a:solidFill>
              </a:rPr>
              <a:t> </a:t>
            </a:r>
            <a:r>
              <a:rPr lang="en-US" sz="2800" b="0" i="0" dirty="0" err="1">
                <a:solidFill>
                  <a:srgbClr val="000000"/>
                </a:solidFill>
                <a:effectLst/>
              </a:rPr>
              <a:t>organisation</a:t>
            </a:r>
            <a:r>
              <a:rPr lang="en-US" sz="2800" b="0" i="0" dirty="0">
                <a:solidFill>
                  <a:srgbClr val="000000"/>
                </a:solidFill>
                <a:effectLst/>
              </a:rPr>
              <a:t> with many levels of supervision between top management and the lowest </a:t>
            </a:r>
            <a:r>
              <a:rPr lang="en-US" sz="2800" b="0" i="0" dirty="0" err="1">
                <a:solidFill>
                  <a:srgbClr val="000000"/>
                </a:solidFill>
                <a:effectLst/>
              </a:rPr>
              <a:t>organisational</a:t>
            </a:r>
            <a:r>
              <a:rPr lang="en-US" sz="2800" dirty="0"/>
              <a:t> </a:t>
            </a:r>
            <a:r>
              <a:rPr lang="en-US" sz="2800" b="0" i="0" dirty="0">
                <a:solidFill>
                  <a:srgbClr val="000000"/>
                </a:solidFill>
                <a:effectLst/>
              </a:rPr>
              <a:t>levels. This creates more communication and cost problems.</a:t>
            </a:r>
            <a:endParaRPr lang="en-IN" dirty="0"/>
          </a:p>
        </p:txBody>
      </p:sp>
    </p:spTree>
    <p:extLst>
      <p:ext uri="{BB962C8B-B14F-4D97-AF65-F5344CB8AC3E}">
        <p14:creationId xmlns:p14="http://schemas.microsoft.com/office/powerpoint/2010/main" val="174957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CFF6D245-AE52-4EE0-A31C-3C4DF650065B}"/>
              </a:ext>
            </a:extLst>
          </p:cNvPr>
          <p:cNvPicPr>
            <a:picLocks noChangeAspect="1"/>
          </p:cNvPicPr>
          <p:nvPr/>
        </p:nvPicPr>
        <p:blipFill rotWithShape="1">
          <a:blip r:embed="rId2"/>
          <a:srcRect l="23811" t="23301" r="22015" b="8738"/>
          <a:stretch/>
        </p:blipFill>
        <p:spPr>
          <a:xfrm>
            <a:off x="1615736" y="315550"/>
            <a:ext cx="8824404" cy="6226899"/>
          </a:xfrm>
          <a:prstGeom prst="rect">
            <a:avLst/>
          </a:prstGeom>
        </p:spPr>
      </p:pic>
    </p:spTree>
    <p:extLst>
      <p:ext uri="{BB962C8B-B14F-4D97-AF65-F5344CB8AC3E}">
        <p14:creationId xmlns:p14="http://schemas.microsoft.com/office/powerpoint/2010/main" val="3876157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28FD0E-6915-4C97-A677-CD0234BC5BCF}"/>
              </a:ext>
            </a:extLst>
          </p:cNvPr>
          <p:cNvSpPr>
            <a:spLocks noGrp="1"/>
          </p:cNvSpPr>
          <p:nvPr>
            <p:ph type="title"/>
          </p:nvPr>
        </p:nvSpPr>
        <p:spPr>
          <a:xfrm>
            <a:off x="838200" y="365126"/>
            <a:ext cx="10515600" cy="1019791"/>
          </a:xfrm>
        </p:spPr>
        <p:txBody>
          <a:bodyPr>
            <a:normAutofit/>
          </a:bodyPr>
          <a:lstStyle/>
          <a:p>
            <a:r>
              <a:rPr lang="en-US" sz="3200" i="0" dirty="0">
                <a:solidFill>
                  <a:schemeClr val="accent1">
                    <a:lumMod val="50000"/>
                  </a:schemeClr>
                </a:solidFill>
                <a:effectLst/>
                <a:latin typeface="+mn-lt"/>
              </a:rPr>
              <a:t>Factors Governing the Span of Management </a:t>
            </a:r>
            <a:br>
              <a:rPr lang="en-US" sz="3200" i="0" dirty="0">
                <a:solidFill>
                  <a:schemeClr val="accent1">
                    <a:lumMod val="50000"/>
                  </a:schemeClr>
                </a:solidFill>
                <a:effectLst/>
                <a:latin typeface="+mn-lt"/>
              </a:rPr>
            </a:br>
            <a:r>
              <a:rPr lang="en-US" sz="3200" i="0" dirty="0">
                <a:solidFill>
                  <a:schemeClr val="accent1">
                    <a:lumMod val="50000"/>
                  </a:schemeClr>
                </a:solidFill>
                <a:effectLst/>
                <a:latin typeface="+mn-lt"/>
              </a:rPr>
              <a:t>(Contingency Approach)</a:t>
            </a:r>
            <a:r>
              <a:rPr lang="en-US" sz="3200" dirty="0">
                <a:solidFill>
                  <a:schemeClr val="accent1">
                    <a:lumMod val="50000"/>
                  </a:schemeClr>
                </a:solidFill>
                <a:latin typeface="+mn-lt"/>
              </a:rPr>
              <a:t> </a:t>
            </a:r>
            <a:endParaRPr lang="en-IN" sz="3200" dirty="0">
              <a:solidFill>
                <a:schemeClr val="accent1">
                  <a:lumMod val="50000"/>
                </a:schemeClr>
              </a:solidFill>
              <a:latin typeface="+mn-lt"/>
            </a:endParaRPr>
          </a:p>
        </p:txBody>
      </p:sp>
      <p:sp>
        <p:nvSpPr>
          <p:cNvPr id="3" name="Content Placeholder 2">
            <a:extLst>
              <a:ext uri="{FF2B5EF4-FFF2-40B4-BE49-F238E27FC236}">
                <a16:creationId xmlns:a16="http://schemas.microsoft.com/office/drawing/2014/main" xmlns="" id="{D335D568-3DC9-4951-8261-0F694C5F67BC}"/>
              </a:ext>
            </a:extLst>
          </p:cNvPr>
          <p:cNvSpPr>
            <a:spLocks noGrp="1"/>
          </p:cNvSpPr>
          <p:nvPr>
            <p:ph idx="1"/>
          </p:nvPr>
        </p:nvSpPr>
        <p:spPr>
          <a:xfrm>
            <a:off x="838200" y="1775534"/>
            <a:ext cx="10515600" cy="4401429"/>
          </a:xfrm>
        </p:spPr>
        <p:txBody>
          <a:bodyPr>
            <a:noAutofit/>
          </a:bodyPr>
          <a:lstStyle/>
          <a:p>
            <a:pPr marL="0" indent="0">
              <a:buNone/>
            </a:pPr>
            <a:r>
              <a:rPr lang="en-IN" b="1" dirty="0">
                <a:solidFill>
                  <a:srgbClr val="000000"/>
                </a:solidFill>
                <a:effectLst/>
              </a:rPr>
              <a:t>Ability of the Manager</a:t>
            </a:r>
          </a:p>
          <a:p>
            <a:r>
              <a:rPr lang="en-US" b="0" dirty="0">
                <a:solidFill>
                  <a:srgbClr val="000000"/>
                </a:solidFill>
                <a:effectLst/>
              </a:rPr>
              <a:t>In an </a:t>
            </a:r>
            <a:r>
              <a:rPr lang="en-US" b="0" dirty="0" err="1">
                <a:solidFill>
                  <a:srgbClr val="000000"/>
                </a:solidFill>
                <a:effectLst/>
              </a:rPr>
              <a:t>organisation</a:t>
            </a:r>
            <a:r>
              <a:rPr lang="en-US" b="0" dirty="0">
                <a:solidFill>
                  <a:srgbClr val="000000"/>
                </a:solidFill>
                <a:effectLst/>
              </a:rPr>
              <a:t>, the span of management should be based on a manager of average ability.</a:t>
            </a:r>
            <a:r>
              <a:rPr lang="en-US" dirty="0"/>
              <a:t> </a:t>
            </a:r>
            <a:r>
              <a:rPr lang="en-IN" dirty="0"/>
              <a:t> </a:t>
            </a:r>
          </a:p>
          <a:p>
            <a:pPr marL="0" indent="0">
              <a:buNone/>
            </a:pPr>
            <a:endParaRPr lang="en-IN" dirty="0"/>
          </a:p>
          <a:p>
            <a:pPr marL="0" indent="0">
              <a:buNone/>
            </a:pPr>
            <a:r>
              <a:rPr lang="en-IN" b="1" dirty="0">
                <a:solidFill>
                  <a:srgbClr val="000000"/>
                </a:solidFill>
                <a:effectLst/>
              </a:rPr>
              <a:t>Ability of the Employees</a:t>
            </a:r>
            <a:r>
              <a:rPr lang="en-IN" dirty="0"/>
              <a:t> </a:t>
            </a:r>
          </a:p>
          <a:p>
            <a:r>
              <a:rPr lang="en-US" b="0" dirty="0">
                <a:solidFill>
                  <a:srgbClr val="000000"/>
                </a:solidFill>
                <a:effectLst/>
              </a:rPr>
              <a:t>If the employees are competent and possess the necessary skill and motivation to perform the task assigned, less attention from the manager is required and a larger span of management can be used. </a:t>
            </a:r>
            <a:r>
              <a:rPr lang="en-US" dirty="0"/>
              <a:t/>
            </a:r>
            <a:br>
              <a:rPr lang="en-US" dirty="0"/>
            </a:br>
            <a:r>
              <a:rPr lang="en-IN" dirty="0"/>
              <a:t/>
            </a:r>
            <a:br>
              <a:rPr lang="en-IN" dirty="0"/>
            </a:br>
            <a:r>
              <a:rPr lang="en-US" dirty="0"/>
              <a:t/>
            </a:r>
            <a:br>
              <a:rPr lang="en-US" dirty="0"/>
            </a:br>
            <a:r>
              <a:rPr lang="en-IN" dirty="0"/>
              <a:t/>
            </a:r>
            <a:br>
              <a:rPr lang="en-IN" dirty="0"/>
            </a:br>
            <a:r>
              <a:rPr lang="en-IN" dirty="0"/>
              <a:t/>
            </a:r>
            <a:br>
              <a:rPr lang="en-IN" dirty="0"/>
            </a:br>
            <a:endParaRPr lang="en-IN" dirty="0"/>
          </a:p>
        </p:txBody>
      </p:sp>
    </p:spTree>
    <p:extLst>
      <p:ext uri="{BB962C8B-B14F-4D97-AF65-F5344CB8AC3E}">
        <p14:creationId xmlns:p14="http://schemas.microsoft.com/office/powerpoint/2010/main" val="338113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C96E01A-02C2-4976-A55E-84A0BB722990}"/>
              </a:ext>
            </a:extLst>
          </p:cNvPr>
          <p:cNvSpPr>
            <a:spLocks noGrp="1"/>
          </p:cNvSpPr>
          <p:nvPr>
            <p:ph idx="1"/>
          </p:nvPr>
        </p:nvSpPr>
        <p:spPr>
          <a:xfrm>
            <a:off x="838200" y="286305"/>
            <a:ext cx="10782670" cy="6285390"/>
          </a:xfrm>
        </p:spPr>
        <p:txBody>
          <a:bodyPr>
            <a:normAutofit/>
          </a:bodyPr>
          <a:lstStyle/>
          <a:p>
            <a:pPr marL="0" indent="0">
              <a:lnSpc>
                <a:spcPct val="100000"/>
              </a:lnSpc>
              <a:buNone/>
            </a:pPr>
            <a:r>
              <a:rPr lang="en-IN" b="1" dirty="0">
                <a:solidFill>
                  <a:srgbClr val="000000"/>
                </a:solidFill>
                <a:effectLst/>
              </a:rPr>
              <a:t>Type of Work</a:t>
            </a:r>
            <a:r>
              <a:rPr lang="en-IN" dirty="0"/>
              <a:t> </a:t>
            </a:r>
          </a:p>
          <a:p>
            <a:pPr>
              <a:lnSpc>
                <a:spcPct val="100000"/>
              </a:lnSpc>
            </a:pPr>
            <a:r>
              <a:rPr lang="en-US" b="0" dirty="0">
                <a:solidFill>
                  <a:srgbClr val="000000"/>
                </a:solidFill>
                <a:effectLst/>
              </a:rPr>
              <a:t>If employees are doing similar jobs, the span of management can be larger. If their jobs are quite different, a small span may be necessary.</a:t>
            </a:r>
          </a:p>
          <a:p>
            <a:pPr>
              <a:lnSpc>
                <a:spcPct val="100000"/>
              </a:lnSpc>
            </a:pPr>
            <a:endParaRPr lang="en-US" b="0" dirty="0">
              <a:solidFill>
                <a:srgbClr val="000000"/>
              </a:solidFill>
              <a:effectLst/>
            </a:endParaRPr>
          </a:p>
          <a:p>
            <a:pPr marL="0" indent="0">
              <a:lnSpc>
                <a:spcPct val="100000"/>
              </a:lnSpc>
              <a:buNone/>
            </a:pPr>
            <a:r>
              <a:rPr lang="en-US" sz="2800" b="1" i="0" dirty="0">
                <a:solidFill>
                  <a:srgbClr val="000000"/>
                </a:solidFill>
                <a:effectLst/>
              </a:rPr>
              <a:t>Well-defined Authority and Responsibility </a:t>
            </a:r>
          </a:p>
          <a:p>
            <a:pPr>
              <a:lnSpc>
                <a:spcPct val="100000"/>
              </a:lnSpc>
            </a:pPr>
            <a:r>
              <a:rPr lang="en-US" sz="2800" b="0" i="0" dirty="0">
                <a:solidFill>
                  <a:srgbClr val="000000"/>
                </a:solidFill>
                <a:effectLst/>
              </a:rPr>
              <a:t>This helps a superior to manage a large number of subordinates.</a:t>
            </a:r>
            <a:r>
              <a:rPr lang="en-US" sz="2800" dirty="0"/>
              <a:t> </a:t>
            </a:r>
          </a:p>
          <a:p>
            <a:pPr>
              <a:lnSpc>
                <a:spcPct val="100000"/>
              </a:lnSpc>
            </a:pPr>
            <a:endParaRPr lang="en-US" sz="2800" dirty="0"/>
          </a:p>
          <a:p>
            <a:pPr marL="0" indent="0">
              <a:lnSpc>
                <a:spcPct val="100000"/>
              </a:lnSpc>
              <a:buNone/>
            </a:pPr>
            <a:r>
              <a:rPr lang="en-US" sz="2800" b="1" i="0" dirty="0">
                <a:solidFill>
                  <a:srgbClr val="000000"/>
                </a:solidFill>
                <a:effectLst/>
              </a:rPr>
              <a:t>Geographic Location </a:t>
            </a:r>
          </a:p>
          <a:p>
            <a:pPr>
              <a:lnSpc>
                <a:spcPct val="100000"/>
              </a:lnSpc>
            </a:pPr>
            <a:r>
              <a:rPr lang="en-US" sz="2800" b="0" i="0" dirty="0">
                <a:solidFill>
                  <a:srgbClr val="000000"/>
                </a:solidFill>
                <a:effectLst/>
              </a:rPr>
              <a:t>An office manager who has 25 employees, all located in one room may be able to supervise them very well. But a sales manager who has 25 sales people located in 25 different districts would find direct supervision impossible.</a:t>
            </a:r>
            <a:r>
              <a:rPr lang="en-US" sz="2800" dirty="0"/>
              <a:t> </a:t>
            </a:r>
          </a:p>
          <a:p>
            <a:pPr>
              <a:lnSpc>
                <a:spcPct val="100000"/>
              </a:lnSpc>
            </a:pPr>
            <a:endParaRPr lang="en-IN" dirty="0"/>
          </a:p>
        </p:txBody>
      </p:sp>
    </p:spTree>
    <p:extLst>
      <p:ext uri="{BB962C8B-B14F-4D97-AF65-F5344CB8AC3E}">
        <p14:creationId xmlns:p14="http://schemas.microsoft.com/office/powerpoint/2010/main" val="120948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E8AFBF-F691-40D5-B201-0F43D59BB04C}"/>
              </a:ext>
            </a:extLst>
          </p:cNvPr>
          <p:cNvSpPr>
            <a:spLocks noGrp="1"/>
          </p:cNvSpPr>
          <p:nvPr>
            <p:ph idx="1"/>
          </p:nvPr>
        </p:nvSpPr>
        <p:spPr>
          <a:xfrm>
            <a:off x="838200" y="488272"/>
            <a:ext cx="10515600" cy="5688691"/>
          </a:xfrm>
        </p:spPr>
        <p:txBody>
          <a:bodyPr>
            <a:noAutofit/>
          </a:bodyPr>
          <a:lstStyle/>
          <a:p>
            <a:pPr marL="0" indent="0">
              <a:lnSpc>
                <a:spcPct val="100000"/>
              </a:lnSpc>
              <a:buNone/>
            </a:pPr>
            <a:r>
              <a:rPr lang="en-US" b="1" i="0" dirty="0">
                <a:solidFill>
                  <a:srgbClr val="000000"/>
                </a:solidFill>
                <a:effectLst/>
              </a:rPr>
              <a:t>Sophisticated Information and Control System </a:t>
            </a:r>
          </a:p>
          <a:p>
            <a:pPr>
              <a:lnSpc>
                <a:spcPct val="100000"/>
              </a:lnSpc>
            </a:pPr>
            <a:r>
              <a:rPr lang="en-US" b="0" i="0" dirty="0">
                <a:solidFill>
                  <a:srgbClr val="000000"/>
                </a:solidFill>
                <a:effectLst/>
              </a:rPr>
              <a:t>This helps the superior to control a large number of subordinates.</a:t>
            </a:r>
            <a:r>
              <a:rPr lang="en-US" dirty="0"/>
              <a:t> </a:t>
            </a:r>
          </a:p>
          <a:p>
            <a:pPr>
              <a:lnSpc>
                <a:spcPct val="100000"/>
              </a:lnSpc>
            </a:pPr>
            <a:endParaRPr lang="en-US" dirty="0"/>
          </a:p>
          <a:p>
            <a:pPr marL="0" indent="0">
              <a:lnSpc>
                <a:spcPct val="100000"/>
              </a:lnSpc>
              <a:buNone/>
            </a:pPr>
            <a:r>
              <a:rPr lang="en-US" b="1" i="0" dirty="0">
                <a:solidFill>
                  <a:srgbClr val="000000"/>
                </a:solidFill>
                <a:effectLst/>
              </a:rPr>
              <a:t>Level of Management </a:t>
            </a:r>
          </a:p>
          <a:p>
            <a:pPr>
              <a:lnSpc>
                <a:spcPct val="100000"/>
              </a:lnSpc>
            </a:pPr>
            <a:r>
              <a:rPr lang="en-US" b="0" i="0" dirty="0">
                <a:solidFill>
                  <a:srgbClr val="000000"/>
                </a:solidFill>
                <a:effectLst/>
              </a:rPr>
              <a:t>Span of management also varies with each level in the </a:t>
            </a:r>
            <a:r>
              <a:rPr lang="en-US" b="0" i="0" dirty="0" err="1">
                <a:solidFill>
                  <a:srgbClr val="000000"/>
                </a:solidFill>
                <a:effectLst/>
              </a:rPr>
              <a:t>organisation</a:t>
            </a:r>
            <a:r>
              <a:rPr lang="en-US" b="0" i="0" dirty="0">
                <a:solidFill>
                  <a:srgbClr val="000000"/>
                </a:solidFill>
                <a:effectLst/>
              </a:rPr>
              <a:t>.</a:t>
            </a:r>
            <a:r>
              <a:rPr lang="en-US" dirty="0"/>
              <a:t> </a:t>
            </a:r>
          </a:p>
          <a:p>
            <a:pPr>
              <a:lnSpc>
                <a:spcPct val="100000"/>
              </a:lnSpc>
            </a:pPr>
            <a:endParaRPr lang="en-US" dirty="0"/>
          </a:p>
          <a:p>
            <a:pPr marL="0" indent="0">
              <a:lnSpc>
                <a:spcPct val="100000"/>
              </a:lnSpc>
              <a:buNone/>
            </a:pPr>
            <a:r>
              <a:rPr lang="en-IN" b="1" i="0" dirty="0">
                <a:solidFill>
                  <a:srgbClr val="000000"/>
                </a:solidFill>
                <a:effectLst/>
              </a:rPr>
              <a:t>Economic Considerations</a:t>
            </a:r>
          </a:p>
          <a:p>
            <a:pPr>
              <a:lnSpc>
                <a:spcPct val="100000"/>
              </a:lnSpc>
            </a:pPr>
            <a:r>
              <a:rPr lang="en-US" b="0" i="0" dirty="0">
                <a:solidFill>
                  <a:srgbClr val="000000"/>
                </a:solidFill>
                <a:effectLst/>
              </a:rPr>
              <a:t>An economic balance has to be arrived at between cost savings that result from the largest possible span and the added costs because of small span.</a:t>
            </a:r>
            <a:r>
              <a:rPr lang="en-US" dirty="0"/>
              <a:t/>
            </a:r>
            <a:br>
              <a:rPr lang="en-US" dirty="0"/>
            </a:br>
            <a:r>
              <a:rPr lang="en-IN" dirty="0"/>
              <a:t> </a:t>
            </a:r>
            <a:br>
              <a:rPr lang="en-IN"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405518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1AC1EB-0628-4732-8E42-A97F79FFF29B}"/>
              </a:ext>
            </a:extLst>
          </p:cNvPr>
          <p:cNvSpPr>
            <a:spLocks noGrp="1"/>
          </p:cNvSpPr>
          <p:nvPr>
            <p:ph type="title"/>
          </p:nvPr>
        </p:nvSpPr>
        <p:spPr>
          <a:xfrm>
            <a:off x="838200" y="231960"/>
            <a:ext cx="10515600" cy="646929"/>
          </a:xfrm>
        </p:spPr>
        <p:txBody>
          <a:bodyPr>
            <a:normAutofit/>
          </a:bodyPr>
          <a:lstStyle/>
          <a:p>
            <a:r>
              <a:rPr lang="en-IN" sz="3200" b="1" i="0" dirty="0">
                <a:solidFill>
                  <a:srgbClr val="C00000"/>
                </a:solidFill>
                <a:effectLst/>
                <a:latin typeface="+mn-lt"/>
              </a:rPr>
              <a:t>Departmentalisation</a:t>
            </a:r>
            <a:r>
              <a:rPr lang="en-IN" sz="3200" dirty="0">
                <a:solidFill>
                  <a:srgbClr val="C00000"/>
                </a:solidFill>
                <a:latin typeface="+mn-lt"/>
              </a:rPr>
              <a:t> </a:t>
            </a:r>
          </a:p>
        </p:txBody>
      </p:sp>
      <p:sp>
        <p:nvSpPr>
          <p:cNvPr id="3" name="Content Placeholder 2">
            <a:extLst>
              <a:ext uri="{FF2B5EF4-FFF2-40B4-BE49-F238E27FC236}">
                <a16:creationId xmlns:a16="http://schemas.microsoft.com/office/drawing/2014/main" xmlns="" id="{55698AEA-4536-4E5A-8869-FC65BEBC9DB5}"/>
              </a:ext>
            </a:extLst>
          </p:cNvPr>
          <p:cNvSpPr>
            <a:spLocks noGrp="1"/>
          </p:cNvSpPr>
          <p:nvPr>
            <p:ph idx="1"/>
          </p:nvPr>
        </p:nvSpPr>
        <p:spPr>
          <a:xfrm>
            <a:off x="838200" y="976544"/>
            <a:ext cx="10515600" cy="5200419"/>
          </a:xfrm>
        </p:spPr>
        <p:txBody>
          <a:bodyPr>
            <a:noAutofit/>
          </a:bodyPr>
          <a:lstStyle/>
          <a:p>
            <a:pPr>
              <a:lnSpc>
                <a:spcPct val="100000"/>
              </a:lnSpc>
            </a:pPr>
            <a:r>
              <a:rPr lang="en-US" b="0" dirty="0">
                <a:solidFill>
                  <a:srgbClr val="000000"/>
                </a:solidFill>
                <a:effectLst/>
              </a:rPr>
              <a:t>The horizontal differentiation of tasks or activities into discrete segments is called </a:t>
            </a:r>
            <a:r>
              <a:rPr lang="en-US" b="0" dirty="0" err="1">
                <a:solidFill>
                  <a:srgbClr val="0070C0"/>
                </a:solidFill>
                <a:effectLst/>
              </a:rPr>
              <a:t>departmentalisation</a:t>
            </a:r>
            <a:r>
              <a:rPr lang="en-US" b="0" dirty="0">
                <a:solidFill>
                  <a:srgbClr val="0070C0"/>
                </a:solidFill>
                <a:effectLst/>
              </a:rPr>
              <a:t>.</a:t>
            </a:r>
            <a:r>
              <a:rPr lang="en-US" dirty="0">
                <a:solidFill>
                  <a:srgbClr val="0070C0"/>
                </a:solidFill>
              </a:rPr>
              <a:t> </a:t>
            </a:r>
          </a:p>
          <a:p>
            <a:pPr>
              <a:lnSpc>
                <a:spcPct val="100000"/>
              </a:lnSpc>
            </a:pPr>
            <a:r>
              <a:rPr lang="en-US" b="0" dirty="0" err="1">
                <a:solidFill>
                  <a:srgbClr val="000000"/>
                </a:solidFill>
                <a:effectLst/>
              </a:rPr>
              <a:t>Departmentalisation</a:t>
            </a:r>
            <a:r>
              <a:rPr lang="en-US" b="0" dirty="0">
                <a:solidFill>
                  <a:srgbClr val="000000"/>
                </a:solidFill>
                <a:effectLst/>
              </a:rPr>
              <a:t> is one important step of building an </a:t>
            </a:r>
            <a:r>
              <a:rPr lang="en-US" b="0" dirty="0" err="1">
                <a:solidFill>
                  <a:srgbClr val="000000"/>
                </a:solidFill>
                <a:effectLst/>
              </a:rPr>
              <a:t>organisation</a:t>
            </a:r>
            <a:r>
              <a:rPr lang="en-US" b="0" dirty="0">
                <a:solidFill>
                  <a:srgbClr val="000000"/>
                </a:solidFill>
                <a:effectLst/>
              </a:rPr>
              <a:t>. </a:t>
            </a:r>
          </a:p>
          <a:p>
            <a:pPr>
              <a:lnSpc>
                <a:spcPct val="100000"/>
              </a:lnSpc>
            </a:pPr>
            <a:r>
              <a:rPr lang="en-US" b="0" dirty="0">
                <a:solidFill>
                  <a:srgbClr val="000000"/>
                </a:solidFill>
                <a:effectLst/>
              </a:rPr>
              <a:t>The aim is to take advantage of the division of </a:t>
            </a:r>
            <a:r>
              <a:rPr lang="en-US" b="0" dirty="0" err="1">
                <a:solidFill>
                  <a:srgbClr val="000000"/>
                </a:solidFill>
                <a:effectLst/>
              </a:rPr>
              <a:t>labour</a:t>
            </a:r>
            <a:r>
              <a:rPr lang="en-US" b="0" dirty="0">
                <a:solidFill>
                  <a:srgbClr val="000000"/>
                </a:solidFill>
                <a:effectLst/>
              </a:rPr>
              <a:t> and </a:t>
            </a:r>
            <a:r>
              <a:rPr lang="en-US" b="0" dirty="0" err="1">
                <a:solidFill>
                  <a:srgbClr val="000000"/>
                </a:solidFill>
                <a:effectLst/>
              </a:rPr>
              <a:t>specialisation</a:t>
            </a:r>
            <a:r>
              <a:rPr lang="en-US" b="0" dirty="0">
                <a:solidFill>
                  <a:srgbClr val="000000"/>
                </a:solidFill>
                <a:effectLst/>
              </a:rPr>
              <a:t> up to a certain limit.</a:t>
            </a:r>
            <a:r>
              <a:rPr lang="en-US" dirty="0"/>
              <a:t> </a:t>
            </a:r>
          </a:p>
          <a:p>
            <a:pPr marL="0" indent="0">
              <a:lnSpc>
                <a:spcPct val="100000"/>
              </a:lnSpc>
              <a:buNone/>
            </a:pPr>
            <a:r>
              <a:rPr lang="en-US" dirty="0">
                <a:solidFill>
                  <a:srgbClr val="FF0000"/>
                </a:solidFill>
                <a:effectLst/>
              </a:rPr>
              <a:t>Types of </a:t>
            </a:r>
            <a:r>
              <a:rPr lang="en-US" dirty="0" err="1">
                <a:solidFill>
                  <a:srgbClr val="FF0000"/>
                </a:solidFill>
                <a:effectLst/>
              </a:rPr>
              <a:t>deparmentalisation</a:t>
            </a:r>
            <a:r>
              <a:rPr lang="en-US" dirty="0">
                <a:solidFill>
                  <a:srgbClr val="FF0000"/>
                </a:solidFill>
              </a:rPr>
              <a:t>: </a:t>
            </a:r>
          </a:p>
          <a:p>
            <a:pPr>
              <a:lnSpc>
                <a:spcPct val="100000"/>
              </a:lnSpc>
            </a:pPr>
            <a:r>
              <a:rPr lang="en-US" b="1" dirty="0">
                <a:solidFill>
                  <a:srgbClr val="000000"/>
                </a:solidFill>
                <a:effectLst/>
              </a:rPr>
              <a:t>Process </a:t>
            </a:r>
            <a:r>
              <a:rPr lang="en-US" b="1" dirty="0" err="1">
                <a:solidFill>
                  <a:srgbClr val="000000"/>
                </a:solidFill>
                <a:effectLst/>
              </a:rPr>
              <a:t>deparmentalisation</a:t>
            </a:r>
            <a:r>
              <a:rPr lang="en-US" b="1" dirty="0">
                <a:solidFill>
                  <a:srgbClr val="000000"/>
                </a:solidFill>
                <a:effectLst/>
              </a:rPr>
              <a:t>: </a:t>
            </a:r>
            <a:r>
              <a:rPr lang="en-IN" dirty="0">
                <a:solidFill>
                  <a:srgbClr val="000000"/>
                </a:solidFill>
                <a:effectLst/>
              </a:rPr>
              <a:t>Business or Organisational Functions, Technology</a:t>
            </a:r>
            <a:r>
              <a:rPr lang="en-IN" dirty="0"/>
              <a:t> </a:t>
            </a:r>
            <a:r>
              <a:rPr lang="en-US" dirty="0">
                <a:solidFill>
                  <a:srgbClr val="000000"/>
                </a:solidFill>
                <a:effectLst/>
              </a:rPr>
              <a:t> </a:t>
            </a:r>
          </a:p>
          <a:p>
            <a:pPr>
              <a:lnSpc>
                <a:spcPct val="100000"/>
              </a:lnSpc>
            </a:pPr>
            <a:r>
              <a:rPr lang="en-US" b="1" dirty="0">
                <a:solidFill>
                  <a:srgbClr val="000000"/>
                </a:solidFill>
                <a:effectLst/>
              </a:rPr>
              <a:t>Purpose departmentalization</a:t>
            </a:r>
            <a:r>
              <a:rPr lang="en-US" b="1" dirty="0">
                <a:solidFill>
                  <a:srgbClr val="000000"/>
                </a:solidFill>
              </a:rPr>
              <a:t>: </a:t>
            </a:r>
            <a:r>
              <a:rPr lang="en-IN" dirty="0">
                <a:solidFill>
                  <a:srgbClr val="000000"/>
                </a:solidFill>
                <a:effectLst/>
              </a:rPr>
              <a:t>Products, Customers, Regions, Territory or Location</a:t>
            </a:r>
            <a:r>
              <a:rPr lang="en-IN" dirty="0"/>
              <a:t> </a:t>
            </a:r>
            <a:br>
              <a:rPr lang="en-IN" dirty="0"/>
            </a:br>
            <a:r>
              <a:rPr lang="en-IN" dirty="0"/>
              <a:t> </a:t>
            </a:r>
            <a:br>
              <a:rPr lang="en-IN" dirty="0"/>
            </a:br>
            <a:r>
              <a:rPr lang="en-IN" dirty="0"/>
              <a:t> </a:t>
            </a:r>
            <a:br>
              <a:rPr lang="en-IN" dirty="0"/>
            </a:br>
            <a:r>
              <a:rPr lang="en-US" b="0" dirty="0">
                <a:solidFill>
                  <a:srgbClr val="000000"/>
                </a:solidFill>
                <a:effectLst/>
              </a:rPr>
              <a:t> </a:t>
            </a:r>
            <a:r>
              <a:rPr lang="en-US" dirty="0"/>
              <a:t/>
            </a:r>
            <a:br>
              <a:rPr lang="en-US" dirty="0"/>
            </a:b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79164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FE29C0-31DC-45CC-8076-D811711C1955}"/>
              </a:ext>
            </a:extLst>
          </p:cNvPr>
          <p:cNvSpPr>
            <a:spLocks noGrp="1"/>
          </p:cNvSpPr>
          <p:nvPr>
            <p:ph type="title"/>
          </p:nvPr>
        </p:nvSpPr>
        <p:spPr>
          <a:xfrm>
            <a:off x="838200" y="365126"/>
            <a:ext cx="10515600" cy="682440"/>
          </a:xfrm>
        </p:spPr>
        <p:txBody>
          <a:bodyPr>
            <a:normAutofit/>
          </a:bodyPr>
          <a:lstStyle/>
          <a:p>
            <a:r>
              <a:rPr lang="en-IN" sz="3600" b="1" i="0" dirty="0">
                <a:solidFill>
                  <a:srgbClr val="C00000"/>
                </a:solidFill>
                <a:effectLst/>
                <a:latin typeface="+mn-lt"/>
              </a:rPr>
              <a:t>Committees</a:t>
            </a:r>
            <a:r>
              <a:rPr lang="en-IN" sz="3600" b="1" dirty="0">
                <a:solidFill>
                  <a:srgbClr val="C00000"/>
                </a:solidFill>
                <a:latin typeface="+mn-lt"/>
              </a:rPr>
              <a:t> </a:t>
            </a:r>
          </a:p>
        </p:txBody>
      </p:sp>
      <p:sp>
        <p:nvSpPr>
          <p:cNvPr id="3" name="Content Placeholder 2">
            <a:extLst>
              <a:ext uri="{FF2B5EF4-FFF2-40B4-BE49-F238E27FC236}">
                <a16:creationId xmlns:a16="http://schemas.microsoft.com/office/drawing/2014/main" xmlns="" id="{16CDFDB0-BC39-42AE-A341-DF388097D141}"/>
              </a:ext>
            </a:extLst>
          </p:cNvPr>
          <p:cNvSpPr>
            <a:spLocks noGrp="1"/>
          </p:cNvSpPr>
          <p:nvPr>
            <p:ph idx="1"/>
          </p:nvPr>
        </p:nvSpPr>
        <p:spPr>
          <a:xfrm>
            <a:off x="838200" y="1313895"/>
            <a:ext cx="10515600" cy="4863068"/>
          </a:xfrm>
        </p:spPr>
        <p:txBody>
          <a:bodyPr>
            <a:normAutofit/>
          </a:bodyPr>
          <a:lstStyle/>
          <a:p>
            <a:pPr>
              <a:lnSpc>
                <a:spcPct val="100000"/>
              </a:lnSpc>
            </a:pPr>
            <a:r>
              <a:rPr lang="en-US" b="0" dirty="0">
                <a:solidFill>
                  <a:srgbClr val="000000"/>
                </a:solidFill>
                <a:effectLst/>
              </a:rPr>
              <a:t>A committee is a group of people who have been formally assigned some task or some problem for their decision and/or implementation. </a:t>
            </a:r>
          </a:p>
          <a:p>
            <a:pPr>
              <a:lnSpc>
                <a:spcPct val="100000"/>
              </a:lnSpc>
            </a:pPr>
            <a:r>
              <a:rPr lang="en-US" b="0" dirty="0">
                <a:solidFill>
                  <a:srgbClr val="000000"/>
                </a:solidFill>
                <a:effectLst/>
              </a:rPr>
              <a:t>Committees are often set up where new kinds of work and/or</a:t>
            </a:r>
            <a:br>
              <a:rPr lang="en-US" b="0" dirty="0">
                <a:solidFill>
                  <a:srgbClr val="000000"/>
                </a:solidFill>
                <a:effectLst/>
              </a:rPr>
            </a:br>
            <a:r>
              <a:rPr lang="en-US" b="0" dirty="0">
                <a:solidFill>
                  <a:srgbClr val="000000"/>
                </a:solidFill>
                <a:effectLst/>
              </a:rPr>
              <a:t>unfamiliar problems seem to involve decisions, responsibilities and powers beyond the capabilities of any one man or department. </a:t>
            </a: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167525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2CC9524-DE3B-49EC-A949-1FD0795B666B}"/>
              </a:ext>
            </a:extLst>
          </p:cNvPr>
          <p:cNvPicPr>
            <a:picLocks noChangeAspect="1"/>
          </p:cNvPicPr>
          <p:nvPr/>
        </p:nvPicPr>
        <p:blipFill rotWithShape="1">
          <a:blip r:embed="rId2"/>
          <a:srcRect l="20315" t="21360" r="18884" b="18705"/>
          <a:stretch/>
        </p:blipFill>
        <p:spPr>
          <a:xfrm>
            <a:off x="954917" y="578315"/>
            <a:ext cx="10282166" cy="5701369"/>
          </a:xfrm>
          <a:prstGeom prst="rect">
            <a:avLst/>
          </a:prstGeom>
        </p:spPr>
      </p:pic>
    </p:spTree>
    <p:extLst>
      <p:ext uri="{BB962C8B-B14F-4D97-AF65-F5344CB8AC3E}">
        <p14:creationId xmlns:p14="http://schemas.microsoft.com/office/powerpoint/2010/main" val="831638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D345385-AAD6-46F5-959E-FCA66272A2EA}"/>
              </a:ext>
            </a:extLst>
          </p:cNvPr>
          <p:cNvSpPr>
            <a:spLocks noGrp="1"/>
          </p:cNvSpPr>
          <p:nvPr>
            <p:ph idx="1"/>
          </p:nvPr>
        </p:nvSpPr>
        <p:spPr>
          <a:xfrm>
            <a:off x="838200" y="701336"/>
            <a:ext cx="10515600" cy="5475627"/>
          </a:xfrm>
        </p:spPr>
        <p:txBody>
          <a:bodyPr>
            <a:normAutofit/>
          </a:bodyPr>
          <a:lstStyle/>
          <a:p>
            <a:pPr>
              <a:lnSpc>
                <a:spcPct val="100000"/>
              </a:lnSpc>
            </a:pPr>
            <a:r>
              <a:rPr lang="en-US" b="0" i="0" dirty="0">
                <a:solidFill>
                  <a:srgbClr val="FF0000"/>
                </a:solidFill>
                <a:effectLst/>
              </a:rPr>
              <a:t>Advisory committees </a:t>
            </a:r>
            <a:r>
              <a:rPr lang="en-US" b="0" i="0" dirty="0">
                <a:solidFill>
                  <a:srgbClr val="000000"/>
                </a:solidFill>
                <a:effectLst/>
              </a:rPr>
              <a:t>have only a recommendatory role and cannot enforce implementation of their advice or recommendation.</a:t>
            </a:r>
            <a:r>
              <a:rPr lang="en-US" dirty="0"/>
              <a:t> </a:t>
            </a:r>
          </a:p>
          <a:p>
            <a:pPr>
              <a:lnSpc>
                <a:spcPct val="100000"/>
              </a:lnSpc>
            </a:pPr>
            <a:r>
              <a:rPr lang="en-IN" b="0" i="0" dirty="0">
                <a:solidFill>
                  <a:srgbClr val="FF0000"/>
                </a:solidFill>
                <a:effectLst/>
              </a:rPr>
              <a:t>Executive</a:t>
            </a:r>
            <a:r>
              <a:rPr lang="en-IN" dirty="0">
                <a:solidFill>
                  <a:srgbClr val="FF0000"/>
                </a:solidFill>
              </a:rPr>
              <a:t> </a:t>
            </a:r>
            <a:r>
              <a:rPr lang="en-US" b="0" i="0" dirty="0">
                <a:solidFill>
                  <a:srgbClr val="FF0000"/>
                </a:solidFill>
                <a:effectLst/>
              </a:rPr>
              <a:t>committees </a:t>
            </a:r>
            <a:r>
              <a:rPr lang="en-US" b="0" i="0" dirty="0">
                <a:solidFill>
                  <a:srgbClr val="000000"/>
                </a:solidFill>
                <a:effectLst/>
              </a:rPr>
              <a:t>not only take decisions but also enforce decisions and thus perform a double role of taking a decision and ordering its execution. The Board of Directors of a company is an example of an executive committee.</a:t>
            </a:r>
            <a:r>
              <a:rPr lang="en-US" dirty="0"/>
              <a:t> </a:t>
            </a:r>
            <a:br>
              <a:rPr lang="en-US" dirty="0"/>
            </a:br>
            <a:r>
              <a:rPr lang="en-US" dirty="0"/>
              <a:t/>
            </a:r>
            <a:br>
              <a:rPr lang="en-US" dirty="0"/>
            </a:br>
            <a:endParaRPr lang="en-IN" dirty="0"/>
          </a:p>
        </p:txBody>
      </p:sp>
    </p:spTree>
    <p:extLst>
      <p:ext uri="{BB962C8B-B14F-4D97-AF65-F5344CB8AC3E}">
        <p14:creationId xmlns:p14="http://schemas.microsoft.com/office/powerpoint/2010/main" val="7150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4F35ADD-BBEE-4F85-BA12-4B616500FB54}"/>
              </a:ext>
            </a:extLst>
          </p:cNvPr>
          <p:cNvSpPr>
            <a:spLocks noGrp="1"/>
          </p:cNvSpPr>
          <p:nvPr>
            <p:ph idx="1"/>
          </p:nvPr>
        </p:nvSpPr>
        <p:spPr>
          <a:xfrm>
            <a:off x="838200" y="665825"/>
            <a:ext cx="10515600" cy="5511138"/>
          </a:xfrm>
        </p:spPr>
        <p:txBody>
          <a:bodyPr>
            <a:normAutofit/>
          </a:bodyPr>
          <a:lstStyle/>
          <a:p>
            <a:pPr>
              <a:lnSpc>
                <a:spcPct val="100000"/>
              </a:lnSpc>
            </a:pPr>
            <a:r>
              <a:rPr lang="en-US" b="0" dirty="0">
                <a:solidFill>
                  <a:srgbClr val="000000"/>
                </a:solidFill>
                <a:effectLst/>
              </a:rPr>
              <a:t>Committees may also be classified as </a:t>
            </a:r>
            <a:r>
              <a:rPr lang="en-US" b="0" dirty="0">
                <a:solidFill>
                  <a:srgbClr val="FF0000"/>
                </a:solidFill>
                <a:effectLst/>
              </a:rPr>
              <a:t>standing committees </a:t>
            </a:r>
            <a:r>
              <a:rPr lang="en-US" b="0" dirty="0">
                <a:solidFill>
                  <a:srgbClr val="000000"/>
                </a:solidFill>
                <a:effectLst/>
              </a:rPr>
              <a:t>and </a:t>
            </a:r>
            <a:r>
              <a:rPr lang="en-US" b="0" dirty="0">
                <a:solidFill>
                  <a:srgbClr val="FF0000"/>
                </a:solidFill>
                <a:effectLst/>
              </a:rPr>
              <a:t>ad hoc task forces. </a:t>
            </a:r>
          </a:p>
          <a:p>
            <a:pPr>
              <a:lnSpc>
                <a:spcPct val="100000"/>
              </a:lnSpc>
            </a:pPr>
            <a:r>
              <a:rPr lang="en-US" b="0" dirty="0">
                <a:solidFill>
                  <a:srgbClr val="000000"/>
                </a:solidFill>
                <a:effectLst/>
              </a:rPr>
              <a:t>Standing or permanent committees are formed to deal with recurrent </a:t>
            </a:r>
            <a:r>
              <a:rPr lang="en-US" b="0" dirty="0" err="1">
                <a:solidFill>
                  <a:srgbClr val="000000"/>
                </a:solidFill>
                <a:effectLst/>
              </a:rPr>
              <a:t>organisational</a:t>
            </a:r>
            <a:r>
              <a:rPr lang="en-US" b="0" dirty="0">
                <a:solidFill>
                  <a:srgbClr val="000000"/>
                </a:solidFill>
                <a:effectLst/>
              </a:rPr>
              <a:t> problems. </a:t>
            </a:r>
          </a:p>
          <a:p>
            <a:pPr>
              <a:lnSpc>
                <a:spcPct val="100000"/>
              </a:lnSpc>
            </a:pPr>
            <a:r>
              <a:rPr lang="en-US" b="0" dirty="0">
                <a:solidFill>
                  <a:srgbClr val="FF0000"/>
                </a:solidFill>
                <a:effectLst/>
              </a:rPr>
              <a:t>Ex.: </a:t>
            </a:r>
            <a:r>
              <a:rPr lang="en-US" b="0" dirty="0">
                <a:solidFill>
                  <a:srgbClr val="000000"/>
                </a:solidFill>
                <a:effectLst/>
              </a:rPr>
              <a:t>Finance committee in a company, loan approval committee in a bank, admission committee in a college. </a:t>
            </a:r>
          </a:p>
          <a:p>
            <a:pPr>
              <a:lnSpc>
                <a:spcPct val="100000"/>
              </a:lnSpc>
            </a:pPr>
            <a:r>
              <a:rPr lang="en-US" b="0" dirty="0">
                <a:solidFill>
                  <a:srgbClr val="000000"/>
                </a:solidFill>
                <a:effectLst/>
              </a:rPr>
              <a:t>Ad hoc task forces, have a short duration. They are dissolved after the task is over, or the problem is solved. The members are chosen for their skills and experience.</a:t>
            </a:r>
            <a:r>
              <a:rPr lang="en-US" dirty="0"/>
              <a:t> </a:t>
            </a:r>
            <a:br>
              <a:rPr lang="en-US" dirty="0"/>
            </a:br>
            <a:endParaRPr lang="en-IN" dirty="0"/>
          </a:p>
        </p:txBody>
      </p:sp>
    </p:spTree>
    <p:extLst>
      <p:ext uri="{BB962C8B-B14F-4D97-AF65-F5344CB8AC3E}">
        <p14:creationId xmlns:p14="http://schemas.microsoft.com/office/powerpoint/2010/main" val="89596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9B6513-D165-45AA-8C20-126B453EE02C}"/>
              </a:ext>
            </a:extLst>
          </p:cNvPr>
          <p:cNvSpPr>
            <a:spLocks noGrp="1"/>
          </p:cNvSpPr>
          <p:nvPr>
            <p:ph type="title"/>
          </p:nvPr>
        </p:nvSpPr>
        <p:spPr>
          <a:xfrm>
            <a:off x="838200" y="365126"/>
            <a:ext cx="10515600" cy="584786"/>
          </a:xfrm>
        </p:spPr>
        <p:txBody>
          <a:bodyPr>
            <a:normAutofit/>
          </a:bodyPr>
          <a:lstStyle/>
          <a:p>
            <a:r>
              <a:rPr lang="en-IN" sz="2800" i="0" dirty="0">
                <a:solidFill>
                  <a:schemeClr val="accent1">
                    <a:lumMod val="75000"/>
                  </a:schemeClr>
                </a:solidFill>
                <a:effectLst/>
                <a:latin typeface="+mn-lt"/>
              </a:rPr>
              <a:t>Advantages</a:t>
            </a:r>
            <a:r>
              <a:rPr lang="en-IN" sz="2800" dirty="0">
                <a:solidFill>
                  <a:schemeClr val="accent1">
                    <a:lumMod val="75000"/>
                  </a:schemeClr>
                </a:solidFill>
                <a:latin typeface="+mn-lt"/>
              </a:rPr>
              <a:t> </a:t>
            </a:r>
          </a:p>
        </p:txBody>
      </p:sp>
      <p:sp>
        <p:nvSpPr>
          <p:cNvPr id="3" name="Content Placeholder 2">
            <a:extLst>
              <a:ext uri="{FF2B5EF4-FFF2-40B4-BE49-F238E27FC236}">
                <a16:creationId xmlns:a16="http://schemas.microsoft.com/office/drawing/2014/main" xmlns="" id="{81B820BB-1B52-4D87-B221-861D7944E2AE}"/>
              </a:ext>
            </a:extLst>
          </p:cNvPr>
          <p:cNvSpPr>
            <a:spLocks noGrp="1"/>
          </p:cNvSpPr>
          <p:nvPr>
            <p:ph idx="1"/>
          </p:nvPr>
        </p:nvSpPr>
        <p:spPr>
          <a:xfrm>
            <a:off x="838200" y="1100831"/>
            <a:ext cx="10515600" cy="5076132"/>
          </a:xfrm>
        </p:spPr>
        <p:txBody>
          <a:bodyPr>
            <a:noAutofit/>
          </a:bodyPr>
          <a:lstStyle/>
          <a:p>
            <a:pPr>
              <a:lnSpc>
                <a:spcPct val="100000"/>
              </a:lnSpc>
            </a:pPr>
            <a:r>
              <a:rPr lang="en-US" b="0" i="0" dirty="0">
                <a:solidFill>
                  <a:srgbClr val="000000"/>
                </a:solidFill>
                <a:effectLst/>
              </a:rPr>
              <a:t>Committees consist of all departmental heads as members, people get an opportunity to better understand each other’s problems and to move towards organizational</a:t>
            </a:r>
            <a:r>
              <a:rPr lang="en-US" dirty="0">
                <a:solidFill>
                  <a:srgbClr val="000000"/>
                </a:solidFill>
              </a:rPr>
              <a:t> </a:t>
            </a:r>
            <a:r>
              <a:rPr lang="en-US" b="0" i="0" dirty="0">
                <a:solidFill>
                  <a:srgbClr val="000000"/>
                </a:solidFill>
                <a:effectLst/>
              </a:rPr>
              <a:t>goals.</a:t>
            </a:r>
            <a:r>
              <a:rPr lang="en-US" dirty="0"/>
              <a:t> </a:t>
            </a:r>
          </a:p>
          <a:p>
            <a:pPr>
              <a:lnSpc>
                <a:spcPct val="100000"/>
              </a:lnSpc>
            </a:pPr>
            <a:r>
              <a:rPr lang="en-US" b="0" i="0" dirty="0">
                <a:solidFill>
                  <a:srgbClr val="000000"/>
                </a:solidFill>
                <a:effectLst/>
              </a:rPr>
              <a:t>Committees provide a forum for the pooling of knowledge and experience of many persons of different skills, ages and backgrounds.</a:t>
            </a:r>
            <a:r>
              <a:rPr lang="en-US" dirty="0"/>
              <a:t> </a:t>
            </a:r>
          </a:p>
          <a:p>
            <a:pPr marL="0" indent="0">
              <a:lnSpc>
                <a:spcPct val="100000"/>
              </a:lnSpc>
              <a:buNone/>
            </a:pPr>
            <a:r>
              <a:rPr lang="en-US" dirty="0"/>
              <a:t/>
            </a:r>
            <a:br>
              <a:rPr lang="en-US" dirty="0"/>
            </a:br>
            <a:r>
              <a:rPr lang="en-US" sz="2400" dirty="0"/>
              <a:t/>
            </a:r>
            <a:br>
              <a:rPr lang="en-US" sz="2400" dirty="0"/>
            </a:br>
            <a:r>
              <a:rPr lang="en-US" sz="2400" dirty="0"/>
              <a:t/>
            </a:r>
            <a:br>
              <a:rPr lang="en-US" sz="2400" dirty="0"/>
            </a:br>
            <a:endParaRPr lang="en-IN" sz="2400" dirty="0"/>
          </a:p>
        </p:txBody>
      </p:sp>
      <p:pic>
        <p:nvPicPr>
          <p:cNvPr id="8" name="Picture 7">
            <a:extLst>
              <a:ext uri="{FF2B5EF4-FFF2-40B4-BE49-F238E27FC236}">
                <a16:creationId xmlns:a16="http://schemas.microsoft.com/office/drawing/2014/main" xmlns="" id="{5C4233BB-DC60-446E-BC38-3A109945B363}"/>
              </a:ext>
            </a:extLst>
          </p:cNvPr>
          <p:cNvPicPr>
            <a:picLocks noChangeAspect="1"/>
          </p:cNvPicPr>
          <p:nvPr/>
        </p:nvPicPr>
        <p:blipFill rotWithShape="1">
          <a:blip r:embed="rId2"/>
          <a:srcRect l="37427" t="16052" r="37379" b="14980"/>
          <a:stretch/>
        </p:blipFill>
        <p:spPr>
          <a:xfrm rot="16200000">
            <a:off x="2055496" y="2883238"/>
            <a:ext cx="2799534" cy="4310851"/>
          </a:xfrm>
          <a:prstGeom prst="rect">
            <a:avLst/>
          </a:prstGeom>
        </p:spPr>
      </p:pic>
      <p:pic>
        <p:nvPicPr>
          <p:cNvPr id="10" name="Picture 9">
            <a:extLst>
              <a:ext uri="{FF2B5EF4-FFF2-40B4-BE49-F238E27FC236}">
                <a16:creationId xmlns:a16="http://schemas.microsoft.com/office/drawing/2014/main" xmlns="" id="{D8238956-6835-4A7B-A94E-6216242C0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5058" y="3638896"/>
            <a:ext cx="4139953" cy="2758244"/>
          </a:xfrm>
          <a:prstGeom prst="rect">
            <a:avLst/>
          </a:prstGeom>
        </p:spPr>
      </p:pic>
    </p:spTree>
    <p:extLst>
      <p:ext uri="{BB962C8B-B14F-4D97-AF65-F5344CB8AC3E}">
        <p14:creationId xmlns:p14="http://schemas.microsoft.com/office/powerpoint/2010/main" val="215539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C2556E3-7764-4BAD-A5EE-8B5FA8A0E96E}"/>
              </a:ext>
            </a:extLst>
          </p:cNvPr>
          <p:cNvSpPr>
            <a:spLocks noGrp="1"/>
          </p:cNvSpPr>
          <p:nvPr>
            <p:ph idx="1"/>
          </p:nvPr>
        </p:nvSpPr>
        <p:spPr>
          <a:xfrm>
            <a:off x="838200" y="630315"/>
            <a:ext cx="10515600" cy="5546648"/>
          </a:xfrm>
        </p:spPr>
        <p:txBody>
          <a:bodyPr/>
          <a:lstStyle/>
          <a:p>
            <a:pPr>
              <a:lnSpc>
                <a:spcPct val="100000"/>
              </a:lnSpc>
            </a:pPr>
            <a:r>
              <a:rPr lang="en-US" sz="2800" b="0" i="0" dirty="0">
                <a:solidFill>
                  <a:srgbClr val="000000"/>
                </a:solidFill>
                <a:effectLst/>
              </a:rPr>
              <a:t>Committees provide an opportunity to many persons to participate in the decision-making process.</a:t>
            </a:r>
            <a:r>
              <a:rPr lang="en-US" sz="2800" dirty="0"/>
              <a:t> </a:t>
            </a:r>
          </a:p>
          <a:p>
            <a:pPr>
              <a:lnSpc>
                <a:spcPct val="100000"/>
              </a:lnSpc>
            </a:pPr>
            <a:r>
              <a:rPr lang="en-US" sz="2800" b="0" i="0" dirty="0">
                <a:solidFill>
                  <a:srgbClr val="000000"/>
                </a:solidFill>
                <a:effectLst/>
              </a:rPr>
              <a:t>Committees are excellent means of transmitting information and ideas, both upward and downward.</a:t>
            </a:r>
          </a:p>
          <a:p>
            <a:pPr>
              <a:lnSpc>
                <a:spcPct val="100000"/>
              </a:lnSpc>
            </a:pPr>
            <a:r>
              <a:rPr lang="en-US" sz="2800" b="0" i="0" dirty="0">
                <a:solidFill>
                  <a:srgbClr val="000000"/>
                </a:solidFill>
                <a:effectLst/>
              </a:rPr>
              <a:t>By exposing members to different viewpoints, committees contribute indirectly to their training and development.</a:t>
            </a:r>
          </a:p>
          <a:p>
            <a:pPr>
              <a:lnSpc>
                <a:spcPct val="100000"/>
              </a:lnSpc>
            </a:pPr>
            <a:r>
              <a:rPr lang="en-US" sz="2800" b="0" i="0" dirty="0">
                <a:solidFill>
                  <a:srgbClr val="000000"/>
                </a:solidFill>
                <a:effectLst/>
              </a:rPr>
              <a:t>Committees are impersonal in action and hence their decisions are generally unbiased and are based on facts. There is no fear of a single individual taking a biased decision.</a:t>
            </a:r>
            <a:r>
              <a:rPr lang="en-US" sz="2800" dirty="0"/>
              <a:t> </a:t>
            </a:r>
            <a:br>
              <a:rPr lang="en-US" sz="2800" dirty="0"/>
            </a:br>
            <a:endParaRPr lang="en-IN" dirty="0"/>
          </a:p>
        </p:txBody>
      </p:sp>
    </p:spTree>
    <p:extLst>
      <p:ext uri="{BB962C8B-B14F-4D97-AF65-F5344CB8AC3E}">
        <p14:creationId xmlns:p14="http://schemas.microsoft.com/office/powerpoint/2010/main" val="684118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1416B3-807C-425F-95D1-1521DF0D3827}"/>
              </a:ext>
            </a:extLst>
          </p:cNvPr>
          <p:cNvSpPr>
            <a:spLocks noGrp="1"/>
          </p:cNvSpPr>
          <p:nvPr>
            <p:ph type="title"/>
          </p:nvPr>
        </p:nvSpPr>
        <p:spPr>
          <a:xfrm>
            <a:off x="532660" y="365126"/>
            <a:ext cx="10821140" cy="496008"/>
          </a:xfrm>
        </p:spPr>
        <p:txBody>
          <a:bodyPr>
            <a:normAutofit/>
          </a:bodyPr>
          <a:lstStyle/>
          <a:p>
            <a:r>
              <a:rPr lang="en-IN" sz="2800" i="0" dirty="0">
                <a:solidFill>
                  <a:schemeClr val="accent1">
                    <a:lumMod val="75000"/>
                  </a:schemeClr>
                </a:solidFill>
                <a:effectLst/>
                <a:latin typeface="+mn-lt"/>
              </a:rPr>
              <a:t>Weaknesses</a:t>
            </a:r>
            <a:r>
              <a:rPr lang="en-IN" sz="2800" dirty="0">
                <a:solidFill>
                  <a:schemeClr val="accent1">
                    <a:lumMod val="75000"/>
                  </a:schemeClr>
                </a:solidFill>
                <a:latin typeface="+mn-lt"/>
              </a:rPr>
              <a:t> </a:t>
            </a:r>
          </a:p>
        </p:txBody>
      </p:sp>
      <p:sp>
        <p:nvSpPr>
          <p:cNvPr id="3" name="Content Placeholder 2">
            <a:extLst>
              <a:ext uri="{FF2B5EF4-FFF2-40B4-BE49-F238E27FC236}">
                <a16:creationId xmlns:a16="http://schemas.microsoft.com/office/drawing/2014/main" xmlns="" id="{0B662D51-29CF-40B0-8325-99575B6D0813}"/>
              </a:ext>
            </a:extLst>
          </p:cNvPr>
          <p:cNvSpPr>
            <a:spLocks noGrp="1"/>
          </p:cNvSpPr>
          <p:nvPr>
            <p:ph idx="1"/>
          </p:nvPr>
        </p:nvSpPr>
        <p:spPr>
          <a:xfrm>
            <a:off x="419100" y="1083077"/>
            <a:ext cx="11353800" cy="5022865"/>
          </a:xfrm>
        </p:spPr>
        <p:txBody>
          <a:bodyPr>
            <a:noAutofit/>
          </a:bodyPr>
          <a:lstStyle/>
          <a:p>
            <a:pPr>
              <a:lnSpc>
                <a:spcPct val="100000"/>
              </a:lnSpc>
            </a:pPr>
            <a:r>
              <a:rPr lang="en-US" b="0" i="0" dirty="0">
                <a:solidFill>
                  <a:srgbClr val="000000"/>
                </a:solidFill>
                <a:effectLst/>
              </a:rPr>
              <a:t>It takes longer to get action from a committee than from an individual manager.</a:t>
            </a:r>
            <a:r>
              <a:rPr lang="en-US" dirty="0"/>
              <a:t> </a:t>
            </a:r>
          </a:p>
          <a:p>
            <a:pPr>
              <a:lnSpc>
                <a:spcPct val="100000"/>
              </a:lnSpc>
            </a:pPr>
            <a:r>
              <a:rPr lang="en-US" b="0" i="0" dirty="0">
                <a:solidFill>
                  <a:srgbClr val="000000"/>
                </a:solidFill>
                <a:effectLst/>
              </a:rPr>
              <a:t>In case a wrong decision is taken by a committee, no member can be individually held responsible. This encourages irresponsibility among the members.</a:t>
            </a:r>
            <a:r>
              <a:rPr lang="en-US" dirty="0"/>
              <a:t> </a:t>
            </a:r>
          </a:p>
          <a:p>
            <a:pPr>
              <a:lnSpc>
                <a:spcPct val="100000"/>
              </a:lnSpc>
            </a:pPr>
            <a:r>
              <a:rPr lang="en-US" b="0" i="0" dirty="0">
                <a:solidFill>
                  <a:srgbClr val="000000"/>
                </a:solidFill>
                <a:effectLst/>
              </a:rPr>
              <a:t>A huge amount is spent in convening meetings and giving allowances to the members. Hence, committees are an expensive form of administration.</a:t>
            </a:r>
            <a:r>
              <a:rPr lang="en-US" dirty="0"/>
              <a:t> </a:t>
            </a:r>
          </a:p>
          <a:p>
            <a:pPr>
              <a:lnSpc>
                <a:spcPct val="100000"/>
              </a:lnSpc>
            </a:pPr>
            <a:r>
              <a:rPr lang="en-US" b="0" i="0" dirty="0">
                <a:solidFill>
                  <a:srgbClr val="000000"/>
                </a:solidFill>
                <a:effectLst/>
              </a:rPr>
              <a:t>Decisions are generally arrived at on the basis of some compromise among the members. Hence they are not the best decisions.</a:t>
            </a:r>
            <a:r>
              <a:rPr lang="en-US" dirty="0"/>
              <a:t> </a:t>
            </a:r>
          </a:p>
          <a:p>
            <a:pPr>
              <a:lnSpc>
                <a:spcPct val="100000"/>
              </a:lnSpc>
            </a:pPr>
            <a:r>
              <a:rPr lang="en-US" b="0" i="0" dirty="0">
                <a:solidFill>
                  <a:srgbClr val="000000"/>
                </a:solidFill>
                <a:effectLst/>
              </a:rPr>
              <a:t>As committees consist of a large number of persons, it is difficult to maintain secrecy regarding the decisions taken at the committee meetings.</a:t>
            </a:r>
            <a:r>
              <a:rPr lang="en-US" dirty="0"/>
              <a:t> </a:t>
            </a:r>
            <a:br>
              <a:rPr lang="en-US" dirty="0"/>
            </a:br>
            <a:endParaRPr lang="en-IN" dirty="0"/>
          </a:p>
        </p:txBody>
      </p:sp>
    </p:spTree>
    <p:extLst>
      <p:ext uri="{BB962C8B-B14F-4D97-AF65-F5344CB8AC3E}">
        <p14:creationId xmlns:p14="http://schemas.microsoft.com/office/powerpoint/2010/main" val="52570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5CE78-4071-48B5-B93B-6EAC9A7A86B2}"/>
              </a:ext>
            </a:extLst>
          </p:cNvPr>
          <p:cNvSpPr>
            <a:spLocks noGrp="1"/>
          </p:cNvSpPr>
          <p:nvPr>
            <p:ph type="title"/>
          </p:nvPr>
        </p:nvSpPr>
        <p:spPr>
          <a:xfrm>
            <a:off x="838200" y="365125"/>
            <a:ext cx="10515600" cy="584785"/>
          </a:xfrm>
        </p:spPr>
        <p:txBody>
          <a:bodyPr>
            <a:normAutofit/>
          </a:bodyPr>
          <a:lstStyle/>
          <a:p>
            <a:r>
              <a:rPr lang="en-US" sz="2800" i="0" dirty="0">
                <a:solidFill>
                  <a:schemeClr val="accent1">
                    <a:lumMod val="75000"/>
                  </a:schemeClr>
                </a:solidFill>
                <a:effectLst/>
                <a:latin typeface="+mn-lt"/>
              </a:rPr>
              <a:t>Suggestions for Making Committees Effective</a:t>
            </a:r>
            <a:r>
              <a:rPr lang="en-US" sz="2800" dirty="0">
                <a:solidFill>
                  <a:schemeClr val="accent1">
                    <a:lumMod val="75000"/>
                  </a:schemeClr>
                </a:solidFill>
                <a:latin typeface="+mn-lt"/>
              </a:rPr>
              <a:t> </a:t>
            </a:r>
            <a:endParaRPr lang="en-IN" sz="2800"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xmlns="" id="{58F5A828-4AA5-4D8E-9B48-1EBF758480F5}"/>
              </a:ext>
            </a:extLst>
          </p:cNvPr>
          <p:cNvSpPr>
            <a:spLocks noGrp="1"/>
          </p:cNvSpPr>
          <p:nvPr>
            <p:ph idx="1"/>
          </p:nvPr>
        </p:nvSpPr>
        <p:spPr>
          <a:xfrm>
            <a:off x="838200" y="1136342"/>
            <a:ext cx="10515600" cy="5040621"/>
          </a:xfrm>
        </p:spPr>
        <p:txBody>
          <a:bodyPr>
            <a:noAutofit/>
          </a:bodyPr>
          <a:lstStyle/>
          <a:p>
            <a:pPr>
              <a:lnSpc>
                <a:spcPct val="100000"/>
              </a:lnSpc>
            </a:pPr>
            <a:r>
              <a:rPr lang="en-US" b="0" i="0" dirty="0">
                <a:solidFill>
                  <a:srgbClr val="000000"/>
                </a:solidFill>
                <a:effectLst/>
              </a:rPr>
              <a:t>The number of members on a committee should not be very large. </a:t>
            </a:r>
          </a:p>
          <a:p>
            <a:pPr>
              <a:lnSpc>
                <a:spcPct val="100000"/>
              </a:lnSpc>
            </a:pPr>
            <a:r>
              <a:rPr lang="en-US" b="0" i="0" dirty="0">
                <a:solidFill>
                  <a:srgbClr val="000000"/>
                </a:solidFill>
                <a:effectLst/>
              </a:rPr>
              <a:t>A committee’s authority should be carefully spelled out, and its activities are correctly chosen and closely defined.</a:t>
            </a:r>
          </a:p>
          <a:p>
            <a:pPr>
              <a:lnSpc>
                <a:spcPct val="100000"/>
              </a:lnSpc>
            </a:pPr>
            <a:r>
              <a:rPr lang="en-US" b="0" i="0" dirty="0">
                <a:solidFill>
                  <a:srgbClr val="000000"/>
                </a:solidFill>
                <a:effectLst/>
              </a:rPr>
              <a:t>The members of a committee should enjoy equal formal status so that they interact with each other freely.</a:t>
            </a:r>
          </a:p>
          <a:p>
            <a:pPr>
              <a:lnSpc>
                <a:spcPct val="100000"/>
              </a:lnSpc>
            </a:pPr>
            <a:r>
              <a:rPr lang="en-US" b="0" i="0" dirty="0">
                <a:solidFill>
                  <a:srgbClr val="000000"/>
                </a:solidFill>
                <a:effectLst/>
              </a:rPr>
              <a:t>The members should give precedence to </a:t>
            </a:r>
            <a:r>
              <a:rPr lang="en-US" b="0" i="0" dirty="0" err="1">
                <a:solidFill>
                  <a:srgbClr val="000000"/>
                </a:solidFill>
                <a:effectLst/>
              </a:rPr>
              <a:t>organisational</a:t>
            </a:r>
            <a:r>
              <a:rPr lang="en-US" b="0" i="0" dirty="0">
                <a:solidFill>
                  <a:srgbClr val="000000"/>
                </a:solidFill>
                <a:effectLst/>
              </a:rPr>
              <a:t> interests over departmental interests and should be prepared in advance on issues to be discussed in the meeting. </a:t>
            </a:r>
            <a:r>
              <a:rPr lang="en-US" dirty="0"/>
              <a:t/>
            </a:r>
            <a:br>
              <a:rPr lang="en-US" dirty="0"/>
            </a:br>
            <a:endParaRPr lang="en-IN" dirty="0"/>
          </a:p>
        </p:txBody>
      </p:sp>
    </p:spTree>
    <p:extLst>
      <p:ext uri="{BB962C8B-B14F-4D97-AF65-F5344CB8AC3E}">
        <p14:creationId xmlns:p14="http://schemas.microsoft.com/office/powerpoint/2010/main" val="14120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BD05F1-02F1-4744-97BC-B54E01868ACE}"/>
              </a:ext>
            </a:extLst>
          </p:cNvPr>
          <p:cNvSpPr>
            <a:spLocks noGrp="1"/>
          </p:cNvSpPr>
          <p:nvPr>
            <p:ph idx="1"/>
          </p:nvPr>
        </p:nvSpPr>
        <p:spPr>
          <a:xfrm>
            <a:off x="838200" y="479394"/>
            <a:ext cx="10515600" cy="5697569"/>
          </a:xfrm>
        </p:spPr>
        <p:txBody>
          <a:bodyPr>
            <a:normAutofit/>
          </a:bodyPr>
          <a:lstStyle/>
          <a:p>
            <a:pPr>
              <a:lnSpc>
                <a:spcPct val="100000"/>
              </a:lnSpc>
            </a:pPr>
            <a:r>
              <a:rPr lang="en-US" sz="2800" b="0" i="0" dirty="0">
                <a:solidFill>
                  <a:srgbClr val="000000"/>
                </a:solidFill>
                <a:effectLst/>
              </a:rPr>
              <a:t>Information should be shared prior to the meeting so that the focus of the meeting can be on problem solving.</a:t>
            </a:r>
            <a:r>
              <a:rPr lang="en-US" sz="2800" dirty="0"/>
              <a:t> </a:t>
            </a:r>
          </a:p>
          <a:p>
            <a:pPr>
              <a:lnSpc>
                <a:spcPct val="100000"/>
              </a:lnSpc>
            </a:pPr>
            <a:r>
              <a:rPr lang="en-US" sz="2800" b="0" i="0" dirty="0">
                <a:solidFill>
                  <a:srgbClr val="000000"/>
                </a:solidFill>
                <a:effectLst/>
              </a:rPr>
              <a:t>The chairman of the committee should plan and conduct the meeting with firmness and fairness.</a:t>
            </a:r>
            <a:r>
              <a:rPr lang="en-US" sz="2800" dirty="0"/>
              <a:t> </a:t>
            </a:r>
          </a:p>
          <a:p>
            <a:pPr>
              <a:lnSpc>
                <a:spcPct val="100000"/>
              </a:lnSpc>
            </a:pPr>
            <a:r>
              <a:rPr lang="en-US" sz="2800" b="0" i="0" dirty="0">
                <a:solidFill>
                  <a:srgbClr val="000000"/>
                </a:solidFill>
                <a:effectLst/>
              </a:rPr>
              <a:t>The work of the committee should be periodically reviewed to determine if it is working effectively, in terms of the purpose for which it was established, and whether that purpose is still</a:t>
            </a:r>
            <a:br>
              <a:rPr lang="en-US" sz="2800" b="0" i="0" dirty="0">
                <a:solidFill>
                  <a:srgbClr val="000000"/>
                </a:solidFill>
                <a:effectLst/>
              </a:rPr>
            </a:br>
            <a:r>
              <a:rPr lang="en-US" sz="2800" b="0" i="0" dirty="0">
                <a:solidFill>
                  <a:srgbClr val="000000"/>
                </a:solidFill>
                <a:effectLst/>
              </a:rPr>
              <a:t>valid.</a:t>
            </a:r>
            <a:r>
              <a:rPr lang="en-US" sz="2800" dirty="0"/>
              <a:t> </a:t>
            </a:r>
            <a:br>
              <a:rPr lang="en-US" sz="2800" dirty="0"/>
            </a:br>
            <a:r>
              <a:rPr lang="en-US" sz="2800" dirty="0"/>
              <a:t/>
            </a:r>
            <a:br>
              <a:rPr lang="en-US" sz="2800" dirty="0"/>
            </a:br>
            <a:r>
              <a:rPr lang="en-US" sz="2800" dirty="0"/>
              <a:t/>
            </a:r>
            <a:br>
              <a:rPr lang="en-US" sz="2800" dirty="0"/>
            </a:br>
            <a:endParaRPr lang="en-IN" dirty="0"/>
          </a:p>
        </p:txBody>
      </p:sp>
    </p:spTree>
    <p:extLst>
      <p:ext uri="{BB962C8B-B14F-4D97-AF65-F5344CB8AC3E}">
        <p14:creationId xmlns:p14="http://schemas.microsoft.com/office/powerpoint/2010/main" val="350828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E1288B-55C7-4F47-91CB-6D5D73AA26E3}"/>
              </a:ext>
            </a:extLst>
          </p:cNvPr>
          <p:cNvSpPr>
            <a:spLocks noGrp="1"/>
          </p:cNvSpPr>
          <p:nvPr>
            <p:ph type="title"/>
          </p:nvPr>
        </p:nvSpPr>
        <p:spPr>
          <a:xfrm>
            <a:off x="838200" y="365125"/>
            <a:ext cx="10515600" cy="788971"/>
          </a:xfrm>
        </p:spPr>
        <p:txBody>
          <a:bodyPr>
            <a:normAutofit/>
          </a:bodyPr>
          <a:lstStyle/>
          <a:p>
            <a:r>
              <a:rPr lang="en-IN" sz="3200" b="1" i="0" dirty="0">
                <a:solidFill>
                  <a:srgbClr val="C00000"/>
                </a:solidFill>
                <a:effectLst/>
                <a:latin typeface="+mn-lt"/>
              </a:rPr>
              <a:t>Authority</a:t>
            </a:r>
            <a:r>
              <a:rPr lang="en-IN" sz="3200" dirty="0">
                <a:solidFill>
                  <a:srgbClr val="C00000"/>
                </a:solidFill>
                <a:latin typeface="+mn-lt"/>
              </a:rPr>
              <a:t> </a:t>
            </a:r>
          </a:p>
        </p:txBody>
      </p:sp>
      <p:sp>
        <p:nvSpPr>
          <p:cNvPr id="3" name="Content Placeholder 2">
            <a:extLst>
              <a:ext uri="{FF2B5EF4-FFF2-40B4-BE49-F238E27FC236}">
                <a16:creationId xmlns:a16="http://schemas.microsoft.com/office/drawing/2014/main" xmlns="" id="{BE949818-F2BC-462F-92C0-882DAE9A264F}"/>
              </a:ext>
            </a:extLst>
          </p:cNvPr>
          <p:cNvSpPr>
            <a:spLocks noGrp="1"/>
          </p:cNvSpPr>
          <p:nvPr>
            <p:ph idx="1"/>
          </p:nvPr>
        </p:nvSpPr>
        <p:spPr>
          <a:xfrm>
            <a:off x="838200" y="1367161"/>
            <a:ext cx="10515600" cy="4809802"/>
          </a:xfrm>
        </p:spPr>
        <p:txBody>
          <a:bodyPr>
            <a:normAutofit/>
          </a:bodyPr>
          <a:lstStyle/>
          <a:p>
            <a:pPr>
              <a:lnSpc>
                <a:spcPct val="100000"/>
              </a:lnSpc>
            </a:pPr>
            <a:r>
              <a:rPr lang="en-US" b="0" dirty="0">
                <a:solidFill>
                  <a:srgbClr val="000000"/>
                </a:solidFill>
                <a:effectLst/>
              </a:rPr>
              <a:t>It is the legitimate right of a superior to command and compel his subordinates to perform a certain </a:t>
            </a:r>
            <a:r>
              <a:rPr lang="en-IN" b="0" dirty="0">
                <a:solidFill>
                  <a:srgbClr val="000000"/>
                </a:solidFill>
                <a:effectLst/>
              </a:rPr>
              <a:t>act.</a:t>
            </a:r>
            <a:r>
              <a:rPr lang="en-IN" dirty="0"/>
              <a:t> </a:t>
            </a:r>
          </a:p>
          <a:p>
            <a:pPr>
              <a:lnSpc>
                <a:spcPct val="100000"/>
              </a:lnSpc>
            </a:pPr>
            <a:r>
              <a:rPr lang="en-US" b="0" dirty="0">
                <a:solidFill>
                  <a:srgbClr val="000000"/>
                </a:solidFill>
                <a:effectLst/>
              </a:rPr>
              <a:t>It can be delegated to a subordinate by his superior.</a:t>
            </a:r>
            <a:r>
              <a:rPr lang="en-US" dirty="0"/>
              <a:t> </a:t>
            </a:r>
          </a:p>
          <a:p>
            <a:pPr>
              <a:lnSpc>
                <a:spcPct val="100000"/>
              </a:lnSpc>
            </a:pPr>
            <a:r>
              <a:rPr lang="en-US" b="0" dirty="0">
                <a:solidFill>
                  <a:srgbClr val="000000"/>
                </a:solidFill>
                <a:effectLst/>
              </a:rPr>
              <a:t>It is mostly well-defined and finite.</a:t>
            </a:r>
          </a:p>
          <a:p>
            <a:pPr>
              <a:lnSpc>
                <a:spcPct val="100000"/>
              </a:lnSpc>
            </a:pPr>
            <a:r>
              <a:rPr lang="en-US" b="0" dirty="0">
                <a:solidFill>
                  <a:srgbClr val="000000"/>
                </a:solidFill>
                <a:effectLst/>
              </a:rPr>
              <a:t>It is what exists in the eye of law.</a:t>
            </a:r>
            <a:r>
              <a:rPr lang="en-US" dirty="0"/>
              <a:t> </a:t>
            </a:r>
            <a:br>
              <a:rPr lang="en-US" dirty="0"/>
            </a:br>
            <a:r>
              <a:rPr lang="en-US" dirty="0"/>
              <a:t/>
            </a:r>
            <a:br>
              <a:rPr lang="en-US" dirty="0"/>
            </a:br>
            <a:r>
              <a:rPr lang="en-US" dirty="0"/>
              <a:t/>
            </a:r>
            <a:br>
              <a:rPr lang="en-US" dirty="0"/>
            </a:br>
            <a:r>
              <a:rPr lang="en-IN" dirty="0"/>
              <a:t/>
            </a:r>
            <a:br>
              <a:rPr lang="en-IN" dirty="0"/>
            </a:br>
            <a:r>
              <a:rPr lang="en-US" dirty="0"/>
              <a:t> </a:t>
            </a:r>
            <a:br>
              <a:rPr lang="en-US" dirty="0"/>
            </a:br>
            <a:endParaRPr lang="en-IN" dirty="0"/>
          </a:p>
        </p:txBody>
      </p:sp>
    </p:spTree>
    <p:extLst>
      <p:ext uri="{BB962C8B-B14F-4D97-AF65-F5344CB8AC3E}">
        <p14:creationId xmlns:p14="http://schemas.microsoft.com/office/powerpoint/2010/main" val="292636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A5D7D0-96BF-454E-BBD4-B0D5B160C205}"/>
              </a:ext>
            </a:extLst>
          </p:cNvPr>
          <p:cNvSpPr>
            <a:spLocks noGrp="1"/>
          </p:cNvSpPr>
          <p:nvPr>
            <p:ph type="title"/>
          </p:nvPr>
        </p:nvSpPr>
        <p:spPr>
          <a:xfrm>
            <a:off x="616258" y="258593"/>
            <a:ext cx="10515600" cy="700195"/>
          </a:xfrm>
        </p:spPr>
        <p:txBody>
          <a:bodyPr>
            <a:normAutofit/>
          </a:bodyPr>
          <a:lstStyle/>
          <a:p>
            <a:r>
              <a:rPr lang="en-IN" sz="3200" b="1" i="0" dirty="0">
                <a:solidFill>
                  <a:srgbClr val="C00000"/>
                </a:solidFill>
                <a:effectLst/>
                <a:latin typeface="+mn-lt"/>
              </a:rPr>
              <a:t>Responsibility</a:t>
            </a:r>
            <a:r>
              <a:rPr lang="en-IN" sz="3200" b="1" dirty="0">
                <a:solidFill>
                  <a:srgbClr val="C00000"/>
                </a:solidFill>
                <a:latin typeface="+mn-lt"/>
              </a:rPr>
              <a:t> </a:t>
            </a:r>
          </a:p>
        </p:txBody>
      </p:sp>
      <p:sp>
        <p:nvSpPr>
          <p:cNvPr id="3" name="Content Placeholder 2">
            <a:extLst>
              <a:ext uri="{FF2B5EF4-FFF2-40B4-BE49-F238E27FC236}">
                <a16:creationId xmlns:a16="http://schemas.microsoft.com/office/drawing/2014/main" xmlns="" id="{530247EE-A2C8-4F5F-A58B-B7471586305D}"/>
              </a:ext>
            </a:extLst>
          </p:cNvPr>
          <p:cNvSpPr>
            <a:spLocks noGrp="1"/>
          </p:cNvSpPr>
          <p:nvPr>
            <p:ph idx="1"/>
          </p:nvPr>
        </p:nvSpPr>
        <p:spPr>
          <a:xfrm>
            <a:off x="541538" y="1145219"/>
            <a:ext cx="11496582" cy="5031744"/>
          </a:xfrm>
        </p:spPr>
        <p:txBody>
          <a:bodyPr>
            <a:noAutofit/>
          </a:bodyPr>
          <a:lstStyle/>
          <a:p>
            <a:pPr>
              <a:lnSpc>
                <a:spcPct val="100000"/>
              </a:lnSpc>
            </a:pPr>
            <a:r>
              <a:rPr lang="en-US" b="0" dirty="0">
                <a:solidFill>
                  <a:srgbClr val="000000"/>
                </a:solidFill>
                <a:effectLst/>
              </a:rPr>
              <a:t>Authority is the right of a superior to issue commands, responsibility is the obligation of </a:t>
            </a:r>
            <a:r>
              <a:rPr lang="en-US" dirty="0">
                <a:solidFill>
                  <a:srgbClr val="000000"/>
                </a:solidFill>
              </a:rPr>
              <a:t>a </a:t>
            </a:r>
            <a:r>
              <a:rPr lang="en-US" b="0" dirty="0">
                <a:solidFill>
                  <a:srgbClr val="000000"/>
                </a:solidFill>
                <a:effectLst/>
              </a:rPr>
              <a:t>subordinate to obey those commands.</a:t>
            </a:r>
            <a:r>
              <a:rPr lang="en-US" dirty="0"/>
              <a:t> </a:t>
            </a:r>
          </a:p>
          <a:p>
            <a:pPr>
              <a:lnSpc>
                <a:spcPct val="100000"/>
              </a:lnSpc>
            </a:pPr>
            <a:r>
              <a:rPr lang="en-US" b="0" dirty="0">
                <a:solidFill>
                  <a:srgbClr val="000000"/>
                </a:solidFill>
                <a:effectLst/>
              </a:rPr>
              <a:t>Thus, when a superior assigns some work to a subordinate, it becomes his responsibility to perform it.</a:t>
            </a:r>
            <a:r>
              <a:rPr lang="en-US" dirty="0"/>
              <a:t> </a:t>
            </a:r>
          </a:p>
          <a:p>
            <a:pPr>
              <a:lnSpc>
                <a:spcPct val="100000"/>
              </a:lnSpc>
            </a:pPr>
            <a:r>
              <a:rPr lang="en-US" b="0" dirty="0">
                <a:solidFill>
                  <a:srgbClr val="000000"/>
                </a:solidFill>
                <a:effectLst/>
              </a:rPr>
              <a:t>Responsibility cannot be delegated or transferred. </a:t>
            </a:r>
          </a:p>
          <a:p>
            <a:pPr marL="0" indent="0">
              <a:lnSpc>
                <a:spcPct val="100000"/>
              </a:lnSpc>
              <a:buNone/>
            </a:pPr>
            <a:r>
              <a:rPr lang="en-US" dirty="0"/>
              <a:t/>
            </a:r>
            <a:br>
              <a:rPr lang="en-US" dirty="0"/>
            </a:br>
            <a:r>
              <a:rPr lang="en-US" dirty="0"/>
              <a:t/>
            </a:r>
            <a:br>
              <a:rPr lang="en-US" dirty="0"/>
            </a:b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29210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A4104DC-2A29-4685-A077-E2C953F5821B}"/>
              </a:ext>
            </a:extLst>
          </p:cNvPr>
          <p:cNvSpPr>
            <a:spLocks noGrp="1"/>
          </p:cNvSpPr>
          <p:nvPr>
            <p:ph idx="1"/>
          </p:nvPr>
        </p:nvSpPr>
        <p:spPr>
          <a:xfrm>
            <a:off x="838200" y="790113"/>
            <a:ext cx="10515600" cy="4296792"/>
          </a:xfrm>
        </p:spPr>
        <p:txBody>
          <a:bodyPr/>
          <a:lstStyle/>
          <a:p>
            <a:pPr marL="0" indent="0">
              <a:lnSpc>
                <a:spcPct val="100000"/>
              </a:lnSpc>
              <a:buNone/>
            </a:pPr>
            <a:r>
              <a:rPr lang="en-US" sz="2800" b="0" dirty="0">
                <a:solidFill>
                  <a:srgbClr val="FF0000"/>
                </a:solidFill>
                <a:effectLst/>
              </a:rPr>
              <a:t>Responsibility is divided into two parts at the time of delegation:</a:t>
            </a:r>
          </a:p>
          <a:p>
            <a:pPr marL="457200" indent="-457200">
              <a:lnSpc>
                <a:spcPct val="100000"/>
              </a:lnSpc>
              <a:buFont typeface="+mj-lt"/>
              <a:buAutoNum type="arabicPeriod"/>
            </a:pPr>
            <a:r>
              <a:rPr lang="en-US" sz="2800" b="1" dirty="0">
                <a:solidFill>
                  <a:srgbClr val="000000"/>
                </a:solidFill>
                <a:effectLst/>
              </a:rPr>
              <a:t>Operating responsibility: </a:t>
            </a:r>
            <a:r>
              <a:rPr lang="en-US" sz="2800" b="0" dirty="0">
                <a:solidFill>
                  <a:srgbClr val="000000"/>
                </a:solidFill>
                <a:effectLst/>
              </a:rPr>
              <a:t>The subordinate assumes only the operating responsibility for the task</a:t>
            </a:r>
          </a:p>
          <a:p>
            <a:pPr marL="457200" indent="-457200">
              <a:lnSpc>
                <a:spcPct val="100000"/>
              </a:lnSpc>
              <a:buFont typeface="+mj-lt"/>
              <a:buAutoNum type="arabicPeriod"/>
            </a:pPr>
            <a:r>
              <a:rPr lang="en-US" sz="2800" b="1" dirty="0">
                <a:solidFill>
                  <a:srgbClr val="000000"/>
                </a:solidFill>
                <a:effectLst/>
              </a:rPr>
              <a:t>Ultimate responsibility: </a:t>
            </a:r>
            <a:r>
              <a:rPr lang="en-US" sz="2800" b="0" dirty="0">
                <a:solidFill>
                  <a:srgbClr val="000000"/>
                </a:solidFill>
                <a:effectLst/>
              </a:rPr>
              <a:t>The superior retains ultimate responsibility for getting the job done. </a:t>
            </a:r>
          </a:p>
          <a:p>
            <a:pPr>
              <a:lnSpc>
                <a:spcPct val="100000"/>
              </a:lnSpc>
            </a:pPr>
            <a:r>
              <a:rPr lang="en-US" sz="2800" b="0" dirty="0">
                <a:solidFill>
                  <a:srgbClr val="000000"/>
                </a:solidFill>
                <a:effectLst/>
              </a:rPr>
              <a:t>If the subordinate fails to perform the job (operating responsibility), the superior is held responsible for this</a:t>
            </a:r>
            <a:br>
              <a:rPr lang="en-US" sz="2800" b="0" dirty="0">
                <a:solidFill>
                  <a:srgbClr val="000000"/>
                </a:solidFill>
                <a:effectLst/>
              </a:rPr>
            </a:br>
            <a:r>
              <a:rPr lang="en-US" sz="2800" b="0" dirty="0">
                <a:solidFill>
                  <a:srgbClr val="000000"/>
                </a:solidFill>
                <a:effectLst/>
              </a:rPr>
              <a:t>failure (ultimate responsibility).</a:t>
            </a:r>
            <a:endParaRPr lang="en-IN" dirty="0"/>
          </a:p>
        </p:txBody>
      </p:sp>
    </p:spTree>
    <p:extLst>
      <p:ext uri="{BB962C8B-B14F-4D97-AF65-F5344CB8AC3E}">
        <p14:creationId xmlns:p14="http://schemas.microsoft.com/office/powerpoint/2010/main" val="2658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7DDACE-F18C-4F55-B547-507416DE07CA}"/>
              </a:ext>
            </a:extLst>
          </p:cNvPr>
          <p:cNvSpPr>
            <a:spLocks noGrp="1"/>
          </p:cNvSpPr>
          <p:nvPr>
            <p:ph type="title"/>
          </p:nvPr>
        </p:nvSpPr>
        <p:spPr>
          <a:xfrm>
            <a:off x="838200" y="365126"/>
            <a:ext cx="10515600" cy="593662"/>
          </a:xfrm>
        </p:spPr>
        <p:txBody>
          <a:bodyPr>
            <a:normAutofit/>
          </a:bodyPr>
          <a:lstStyle/>
          <a:p>
            <a:r>
              <a:rPr lang="en-IN" sz="2800" i="0" dirty="0">
                <a:solidFill>
                  <a:schemeClr val="accent1">
                    <a:lumMod val="75000"/>
                  </a:schemeClr>
                </a:solidFill>
                <a:effectLst/>
                <a:latin typeface="+mn-lt"/>
              </a:rPr>
              <a:t>Authority Should Equal Responsibility</a:t>
            </a:r>
            <a:r>
              <a:rPr lang="en-IN" sz="2800" dirty="0">
                <a:solidFill>
                  <a:schemeClr val="accent1">
                    <a:lumMod val="75000"/>
                  </a:schemeClr>
                </a:solidFill>
                <a:latin typeface="+mn-lt"/>
              </a:rPr>
              <a:t> </a:t>
            </a:r>
          </a:p>
        </p:txBody>
      </p:sp>
      <p:sp>
        <p:nvSpPr>
          <p:cNvPr id="3" name="Content Placeholder 2">
            <a:extLst>
              <a:ext uri="{FF2B5EF4-FFF2-40B4-BE49-F238E27FC236}">
                <a16:creationId xmlns:a16="http://schemas.microsoft.com/office/drawing/2014/main" xmlns="" id="{2CDB9438-14B1-4A0A-85E0-BB2C81155C0B}"/>
              </a:ext>
            </a:extLst>
          </p:cNvPr>
          <p:cNvSpPr>
            <a:spLocks noGrp="1"/>
          </p:cNvSpPr>
          <p:nvPr>
            <p:ph idx="1"/>
          </p:nvPr>
        </p:nvSpPr>
        <p:spPr>
          <a:xfrm>
            <a:off x="838199" y="1074198"/>
            <a:ext cx="10969101" cy="5102765"/>
          </a:xfrm>
        </p:spPr>
        <p:txBody>
          <a:bodyPr>
            <a:noAutofit/>
          </a:bodyPr>
          <a:lstStyle/>
          <a:p>
            <a:pPr>
              <a:lnSpc>
                <a:spcPct val="100000"/>
              </a:lnSpc>
            </a:pPr>
            <a:r>
              <a:rPr lang="en-US" b="0" i="0" dirty="0">
                <a:solidFill>
                  <a:srgbClr val="000000"/>
                </a:solidFill>
                <a:effectLst/>
              </a:rPr>
              <a:t>The subordinate must have been delegated enough authority to undertake all the duties which have been assigned to him and for which he has accepted responsibility. </a:t>
            </a:r>
          </a:p>
          <a:p>
            <a:pPr>
              <a:lnSpc>
                <a:spcPct val="100000"/>
              </a:lnSpc>
            </a:pPr>
            <a:r>
              <a:rPr lang="en-US" b="0" i="0" dirty="0">
                <a:solidFill>
                  <a:srgbClr val="000000"/>
                </a:solidFill>
                <a:effectLst/>
              </a:rPr>
              <a:t>A subordinate manager cannot be expected to accept responsibility for activities for which he has no authority.</a:t>
            </a:r>
          </a:p>
          <a:p>
            <a:pPr>
              <a:lnSpc>
                <a:spcPct val="100000"/>
              </a:lnSpc>
            </a:pPr>
            <a:r>
              <a:rPr lang="en-US" b="0" i="0" dirty="0">
                <a:solidFill>
                  <a:srgbClr val="000000"/>
                </a:solidFill>
                <a:effectLst/>
              </a:rPr>
              <a:t>The subordinate should not have more authority than responsibility or vice versa. </a:t>
            </a:r>
          </a:p>
          <a:p>
            <a:pPr>
              <a:lnSpc>
                <a:spcPct val="100000"/>
              </a:lnSpc>
            </a:pPr>
            <a:r>
              <a:rPr lang="en-US" b="0" i="0" dirty="0">
                <a:solidFill>
                  <a:srgbClr val="000000"/>
                </a:solidFill>
                <a:effectLst/>
              </a:rPr>
              <a:t>Inequality between the two produces undesirable results. </a:t>
            </a:r>
          </a:p>
          <a:p>
            <a:pPr>
              <a:lnSpc>
                <a:spcPct val="100000"/>
              </a:lnSpc>
            </a:pPr>
            <a:r>
              <a:rPr lang="en-US" b="0" i="0" dirty="0">
                <a:solidFill>
                  <a:srgbClr val="000000"/>
                </a:solidFill>
                <a:effectLst/>
              </a:rPr>
              <a:t>If authority exceeds responsibility, a misuse of authority can easily result. </a:t>
            </a:r>
          </a:p>
          <a:p>
            <a:pPr>
              <a:lnSpc>
                <a:spcPct val="100000"/>
              </a:lnSpc>
            </a:pPr>
            <a:r>
              <a:rPr lang="en-US" b="0" i="0" dirty="0">
                <a:solidFill>
                  <a:srgbClr val="000000"/>
                </a:solidFill>
                <a:effectLst/>
              </a:rPr>
              <a:t>On the other hand, if responsibility exceeds authority, the subordinate may find himself in a very frustrating situation.</a:t>
            </a:r>
            <a:r>
              <a:rPr lang="en-US" dirty="0"/>
              <a:t> </a:t>
            </a:r>
            <a:br>
              <a:rPr lang="en-US" dirty="0"/>
            </a:br>
            <a:r>
              <a:rPr lang="en-US" dirty="0"/>
              <a:t> </a:t>
            </a:r>
            <a:br>
              <a:rPr lang="en-US" dirty="0"/>
            </a:br>
            <a:endParaRPr lang="en-IN" dirty="0"/>
          </a:p>
        </p:txBody>
      </p:sp>
    </p:spTree>
    <p:extLst>
      <p:ext uri="{BB962C8B-B14F-4D97-AF65-F5344CB8AC3E}">
        <p14:creationId xmlns:p14="http://schemas.microsoft.com/office/powerpoint/2010/main" val="165639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376A71-3C24-480E-8650-A62D123414D7}"/>
              </a:ext>
            </a:extLst>
          </p:cNvPr>
          <p:cNvSpPr>
            <a:spLocks noGrp="1"/>
          </p:cNvSpPr>
          <p:nvPr>
            <p:ph type="title"/>
          </p:nvPr>
        </p:nvSpPr>
        <p:spPr>
          <a:xfrm>
            <a:off x="838200" y="365125"/>
            <a:ext cx="10515600" cy="646929"/>
          </a:xfrm>
        </p:spPr>
        <p:txBody>
          <a:bodyPr>
            <a:normAutofit/>
          </a:bodyPr>
          <a:lstStyle/>
          <a:p>
            <a:r>
              <a:rPr lang="en-IN" sz="3200" b="1" i="0" dirty="0">
                <a:solidFill>
                  <a:srgbClr val="C00000"/>
                </a:solidFill>
                <a:effectLst/>
                <a:latin typeface="+mn-lt"/>
              </a:rPr>
              <a:t>Centralisation and Decentralisation</a:t>
            </a:r>
            <a:endParaRPr lang="en-IN" sz="3200" dirty="0">
              <a:solidFill>
                <a:srgbClr val="C00000"/>
              </a:solidFill>
              <a:latin typeface="+mn-lt"/>
            </a:endParaRPr>
          </a:p>
        </p:txBody>
      </p:sp>
      <p:sp>
        <p:nvSpPr>
          <p:cNvPr id="3" name="Content Placeholder 2">
            <a:extLst>
              <a:ext uri="{FF2B5EF4-FFF2-40B4-BE49-F238E27FC236}">
                <a16:creationId xmlns:a16="http://schemas.microsoft.com/office/drawing/2014/main" xmlns="" id="{3495F461-1ACA-45BB-ADF8-A7308459CD4E}"/>
              </a:ext>
            </a:extLst>
          </p:cNvPr>
          <p:cNvSpPr>
            <a:spLocks noGrp="1"/>
          </p:cNvSpPr>
          <p:nvPr>
            <p:ph idx="1"/>
          </p:nvPr>
        </p:nvSpPr>
        <p:spPr>
          <a:xfrm>
            <a:off x="838200" y="1251751"/>
            <a:ext cx="10515600" cy="4925212"/>
          </a:xfrm>
        </p:spPr>
        <p:txBody>
          <a:bodyPr>
            <a:normAutofit/>
          </a:bodyPr>
          <a:lstStyle/>
          <a:p>
            <a:pPr>
              <a:lnSpc>
                <a:spcPct val="100000"/>
              </a:lnSpc>
            </a:pPr>
            <a:r>
              <a:rPr lang="en-US" b="0" i="0" dirty="0">
                <a:solidFill>
                  <a:srgbClr val="000000"/>
                </a:solidFill>
                <a:effectLst/>
              </a:rPr>
              <a:t>In a </a:t>
            </a:r>
            <a:r>
              <a:rPr lang="en-US" b="0" i="0" dirty="0" err="1">
                <a:solidFill>
                  <a:srgbClr val="000000"/>
                </a:solidFill>
                <a:effectLst/>
              </a:rPr>
              <a:t>centralised</a:t>
            </a:r>
            <a:r>
              <a:rPr lang="en-US" b="0" i="0" dirty="0">
                <a:solidFill>
                  <a:srgbClr val="000000"/>
                </a:solidFill>
                <a:effectLst/>
              </a:rPr>
              <a:t> set-up, the decision-making authority is concentrated in a few hands at the top and in a </a:t>
            </a:r>
            <a:r>
              <a:rPr lang="en-US" b="0" i="0" dirty="0" err="1">
                <a:solidFill>
                  <a:srgbClr val="000000"/>
                </a:solidFill>
                <a:effectLst/>
              </a:rPr>
              <a:t>decentralised</a:t>
            </a:r>
            <a:r>
              <a:rPr lang="en-US" b="0" i="0" dirty="0">
                <a:solidFill>
                  <a:srgbClr val="000000"/>
                </a:solidFill>
                <a:effectLst/>
              </a:rPr>
              <a:t> set-up, it is delegated to the levels where the work is to be performed.</a:t>
            </a:r>
            <a:r>
              <a:rPr lang="en-US" dirty="0"/>
              <a:t> </a:t>
            </a:r>
            <a:br>
              <a:rPr lang="en-US" dirty="0"/>
            </a:br>
            <a:endParaRPr lang="en-IN" dirty="0"/>
          </a:p>
        </p:txBody>
      </p:sp>
    </p:spTree>
    <p:extLst>
      <p:ext uri="{BB962C8B-B14F-4D97-AF65-F5344CB8AC3E}">
        <p14:creationId xmlns:p14="http://schemas.microsoft.com/office/powerpoint/2010/main" val="193869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676270C-F6F4-4B53-B932-89F9B2413C36}"/>
              </a:ext>
            </a:extLst>
          </p:cNvPr>
          <p:cNvSpPr>
            <a:spLocks noGrp="1"/>
          </p:cNvSpPr>
          <p:nvPr>
            <p:ph idx="1"/>
          </p:nvPr>
        </p:nvSpPr>
        <p:spPr>
          <a:xfrm>
            <a:off x="838200" y="399495"/>
            <a:ext cx="10515600" cy="5777468"/>
          </a:xfrm>
        </p:spPr>
        <p:txBody>
          <a:bodyPr>
            <a:noAutofit/>
          </a:bodyPr>
          <a:lstStyle/>
          <a:p>
            <a:pPr marL="0" indent="0">
              <a:lnSpc>
                <a:spcPct val="100000"/>
              </a:lnSpc>
              <a:buNone/>
            </a:pPr>
            <a:r>
              <a:rPr lang="en-IN" dirty="0">
                <a:solidFill>
                  <a:schemeClr val="accent1">
                    <a:lumMod val="75000"/>
                  </a:schemeClr>
                </a:solidFill>
                <a:effectLst/>
              </a:rPr>
              <a:t>Advantages of Decentralisation</a:t>
            </a:r>
          </a:p>
          <a:p>
            <a:pPr>
              <a:lnSpc>
                <a:spcPct val="100000"/>
              </a:lnSpc>
            </a:pPr>
            <a:r>
              <a:rPr lang="en-US" dirty="0" err="1">
                <a:solidFill>
                  <a:srgbClr val="000000"/>
                </a:solidFill>
                <a:effectLst/>
              </a:rPr>
              <a:t>Decentralisation</a:t>
            </a:r>
            <a:r>
              <a:rPr lang="en-US" dirty="0">
                <a:solidFill>
                  <a:srgbClr val="000000"/>
                </a:solidFill>
                <a:effectLst/>
              </a:rPr>
              <a:t> reduces problem of communication and red tape.</a:t>
            </a:r>
            <a:r>
              <a:rPr lang="en-US" dirty="0"/>
              <a:t> </a:t>
            </a:r>
          </a:p>
          <a:p>
            <a:pPr>
              <a:lnSpc>
                <a:spcPct val="100000"/>
              </a:lnSpc>
            </a:pPr>
            <a:r>
              <a:rPr lang="en-US" dirty="0">
                <a:solidFill>
                  <a:srgbClr val="000000"/>
                </a:solidFill>
                <a:effectLst/>
              </a:rPr>
              <a:t>It permits quicker and better decision-making.</a:t>
            </a:r>
            <a:r>
              <a:rPr lang="en-US" dirty="0"/>
              <a:t> </a:t>
            </a:r>
          </a:p>
          <a:p>
            <a:pPr>
              <a:lnSpc>
                <a:spcPct val="100000"/>
              </a:lnSpc>
            </a:pPr>
            <a:r>
              <a:rPr lang="en-US" dirty="0" err="1">
                <a:solidFill>
                  <a:srgbClr val="000000"/>
                </a:solidFill>
                <a:effectLst/>
              </a:rPr>
              <a:t>Decentralisation</a:t>
            </a:r>
            <a:r>
              <a:rPr lang="en-US" dirty="0">
                <a:solidFill>
                  <a:srgbClr val="000000"/>
                </a:solidFill>
                <a:effectLst/>
              </a:rPr>
              <a:t> </a:t>
            </a:r>
            <a:r>
              <a:rPr lang="en-US" dirty="0" err="1">
                <a:solidFill>
                  <a:srgbClr val="000000"/>
                </a:solidFill>
                <a:effectLst/>
              </a:rPr>
              <a:t>recognises</a:t>
            </a:r>
            <a:r>
              <a:rPr lang="en-US" dirty="0">
                <a:solidFill>
                  <a:srgbClr val="000000"/>
                </a:solidFill>
                <a:effectLst/>
              </a:rPr>
              <a:t> and actually capitalizes on the importance of the human element. Under </a:t>
            </a:r>
            <a:r>
              <a:rPr lang="en-US" dirty="0" err="1">
                <a:solidFill>
                  <a:srgbClr val="000000"/>
                </a:solidFill>
                <a:effectLst/>
              </a:rPr>
              <a:t>decentralisation</a:t>
            </a:r>
            <a:r>
              <a:rPr lang="en-US" dirty="0">
                <a:solidFill>
                  <a:srgbClr val="000000"/>
                </a:solidFill>
                <a:effectLst/>
              </a:rPr>
              <a:t>, employees are able to exercise more autonomy</a:t>
            </a:r>
            <a:r>
              <a:rPr lang="en-US" dirty="0"/>
              <a:t> </a:t>
            </a:r>
          </a:p>
          <a:p>
            <a:pPr>
              <a:lnSpc>
                <a:spcPct val="100000"/>
              </a:lnSpc>
            </a:pPr>
            <a:r>
              <a:rPr lang="en-US" dirty="0">
                <a:solidFill>
                  <a:srgbClr val="000000"/>
                </a:solidFill>
                <a:effectLst/>
              </a:rPr>
              <a:t>It leads to a competitive climate within the organization.</a:t>
            </a:r>
            <a:r>
              <a:rPr lang="en-US" dirty="0"/>
              <a:t> </a:t>
            </a:r>
          </a:p>
          <a:p>
            <a:pPr>
              <a:lnSpc>
                <a:spcPct val="100000"/>
              </a:lnSpc>
            </a:pPr>
            <a:r>
              <a:rPr lang="en-US" dirty="0" err="1">
                <a:solidFill>
                  <a:srgbClr val="000000"/>
                </a:solidFill>
                <a:effectLst/>
              </a:rPr>
              <a:t>Decentralisation</a:t>
            </a:r>
            <a:r>
              <a:rPr lang="en-US" dirty="0">
                <a:solidFill>
                  <a:srgbClr val="000000"/>
                </a:solidFill>
                <a:effectLst/>
              </a:rPr>
              <a:t> ensures the development of employees.</a:t>
            </a:r>
            <a:r>
              <a:rPr lang="en-US" dirty="0"/>
              <a:t> </a:t>
            </a:r>
          </a:p>
          <a:p>
            <a:pPr>
              <a:lnSpc>
                <a:spcPct val="100000"/>
              </a:lnSpc>
            </a:pPr>
            <a:r>
              <a:rPr lang="en-US" dirty="0" err="1">
                <a:solidFill>
                  <a:srgbClr val="000000"/>
                </a:solidFill>
                <a:effectLst/>
              </a:rPr>
              <a:t>Decentralisation</a:t>
            </a:r>
            <a:r>
              <a:rPr lang="en-US" dirty="0">
                <a:solidFill>
                  <a:srgbClr val="000000"/>
                </a:solidFill>
                <a:effectLst/>
              </a:rPr>
              <a:t> facilitates diversification of products, activities and markets. </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IN" dirty="0"/>
              <a:t/>
            </a:r>
            <a:br>
              <a:rPr lang="en-IN" dirty="0"/>
            </a:br>
            <a:endParaRPr lang="en-IN" dirty="0"/>
          </a:p>
        </p:txBody>
      </p:sp>
    </p:spTree>
    <p:extLst>
      <p:ext uri="{BB962C8B-B14F-4D97-AF65-F5344CB8AC3E}">
        <p14:creationId xmlns:p14="http://schemas.microsoft.com/office/powerpoint/2010/main" val="421413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968034C-D0D1-4794-802F-C4DD95FB49DC}"/>
              </a:ext>
            </a:extLst>
          </p:cNvPr>
          <p:cNvSpPr>
            <a:spLocks noGrp="1"/>
          </p:cNvSpPr>
          <p:nvPr>
            <p:ph idx="1"/>
          </p:nvPr>
        </p:nvSpPr>
        <p:spPr>
          <a:xfrm>
            <a:off x="838200" y="701336"/>
            <a:ext cx="10515600" cy="5475627"/>
          </a:xfrm>
        </p:spPr>
        <p:txBody>
          <a:bodyPr>
            <a:normAutofit/>
          </a:bodyPr>
          <a:lstStyle/>
          <a:p>
            <a:pPr marL="0" indent="0">
              <a:buNone/>
            </a:pPr>
            <a:r>
              <a:rPr lang="en-IN" i="0" dirty="0">
                <a:solidFill>
                  <a:schemeClr val="accent1">
                    <a:lumMod val="75000"/>
                  </a:schemeClr>
                </a:solidFill>
                <a:effectLst/>
              </a:rPr>
              <a:t>Advantages of Centralisation</a:t>
            </a:r>
            <a:r>
              <a:rPr lang="en-IN" dirty="0">
                <a:solidFill>
                  <a:schemeClr val="accent1">
                    <a:lumMod val="75000"/>
                  </a:schemeClr>
                </a:solidFill>
              </a:rPr>
              <a:t> </a:t>
            </a:r>
          </a:p>
          <a:p>
            <a:pPr marL="342900" indent="-342900">
              <a:buFont typeface="+mj-lt"/>
              <a:buAutoNum type="arabicPeriod"/>
            </a:pPr>
            <a:r>
              <a:rPr lang="en-US" b="0" i="0" dirty="0">
                <a:solidFill>
                  <a:srgbClr val="000000"/>
                </a:solidFill>
                <a:effectLst/>
              </a:rPr>
              <a:t>Coordination of activities of subordinates is better achieved.</a:t>
            </a:r>
            <a:endParaRPr lang="en-US" dirty="0">
              <a:solidFill>
                <a:srgbClr val="000000"/>
              </a:solidFill>
            </a:endParaRPr>
          </a:p>
          <a:p>
            <a:pPr marL="342900" indent="-342900">
              <a:buFont typeface="+mj-lt"/>
              <a:buAutoNum type="arabicPeriod"/>
            </a:pPr>
            <a:r>
              <a:rPr lang="en-US" b="0" i="0" dirty="0">
                <a:solidFill>
                  <a:srgbClr val="000000"/>
                </a:solidFill>
                <a:effectLst/>
              </a:rPr>
              <a:t>There is no duplication of efforts or resources.</a:t>
            </a:r>
            <a:endParaRPr lang="en-US" dirty="0">
              <a:solidFill>
                <a:srgbClr val="000000"/>
              </a:solidFill>
            </a:endParaRPr>
          </a:p>
          <a:p>
            <a:pPr marL="342900" indent="-342900">
              <a:buFont typeface="+mj-lt"/>
              <a:buAutoNum type="arabicPeriod"/>
            </a:pPr>
            <a:r>
              <a:rPr lang="en-US" b="0" i="0" dirty="0">
                <a:solidFill>
                  <a:srgbClr val="000000"/>
                </a:solidFill>
                <a:effectLst/>
              </a:rPr>
              <a:t>Decisions take into account the interest of the entire </a:t>
            </a:r>
            <a:r>
              <a:rPr lang="en-US" b="0" i="0" dirty="0" err="1">
                <a:solidFill>
                  <a:srgbClr val="000000"/>
                </a:solidFill>
                <a:effectLst/>
              </a:rPr>
              <a:t>organisation</a:t>
            </a:r>
            <a:r>
              <a:rPr lang="en-US" b="0" i="0" dirty="0">
                <a:solidFill>
                  <a:srgbClr val="000000"/>
                </a:solidFill>
                <a:effectLst/>
              </a:rPr>
              <a:t>.</a:t>
            </a:r>
            <a:endParaRPr lang="en-US" dirty="0">
              <a:solidFill>
                <a:srgbClr val="000000"/>
              </a:solidFill>
            </a:endParaRPr>
          </a:p>
          <a:p>
            <a:pPr marL="342900" indent="-342900">
              <a:buFont typeface="+mj-lt"/>
              <a:buAutoNum type="arabicPeriod"/>
            </a:pPr>
            <a:r>
              <a:rPr lang="en-US" b="0" i="0" dirty="0">
                <a:solidFill>
                  <a:srgbClr val="000000"/>
                </a:solidFill>
                <a:effectLst/>
              </a:rPr>
              <a:t>Strong central leadership develops which may be required in crisis.</a:t>
            </a:r>
            <a:r>
              <a:rPr lang="en-US" dirty="0"/>
              <a:t> </a:t>
            </a:r>
            <a:br>
              <a:rPr lang="en-US" dirty="0"/>
            </a:br>
            <a:r>
              <a:rPr lang="en-IN" dirty="0"/>
              <a:t/>
            </a:r>
            <a:br>
              <a:rPr lang="en-IN" dirty="0"/>
            </a:br>
            <a:endParaRPr lang="en-IN" dirty="0"/>
          </a:p>
        </p:txBody>
      </p:sp>
    </p:spTree>
    <p:extLst>
      <p:ext uri="{BB962C8B-B14F-4D97-AF65-F5344CB8AC3E}">
        <p14:creationId xmlns:p14="http://schemas.microsoft.com/office/powerpoint/2010/main" val="339413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76EAE9-BF50-47FB-9CD0-2EAD5050DB35}"/>
              </a:ext>
            </a:extLst>
          </p:cNvPr>
          <p:cNvSpPr>
            <a:spLocks noGrp="1"/>
          </p:cNvSpPr>
          <p:nvPr>
            <p:ph type="title"/>
          </p:nvPr>
        </p:nvSpPr>
        <p:spPr>
          <a:xfrm>
            <a:off x="838200" y="365125"/>
            <a:ext cx="10515600" cy="602541"/>
          </a:xfrm>
        </p:spPr>
        <p:txBody>
          <a:bodyPr>
            <a:noAutofit/>
          </a:bodyPr>
          <a:lstStyle/>
          <a:p>
            <a:pPr>
              <a:lnSpc>
                <a:spcPct val="107000"/>
              </a:lnSpc>
              <a:spcAft>
                <a:spcPts val="800"/>
              </a:spcAft>
            </a:pPr>
            <a:r>
              <a:rPr lang="en-IN" sz="3200" b="1" i="0" dirty="0">
                <a:solidFill>
                  <a:srgbClr val="C00000"/>
                </a:solidFill>
                <a:effectLst/>
                <a:latin typeface="+mn-lt"/>
              </a:rPr>
              <a:t>Staffing</a:t>
            </a:r>
            <a:r>
              <a:rPr lang="en-IN" sz="3200" dirty="0">
                <a:solidFill>
                  <a:srgbClr val="C00000"/>
                </a:solidFill>
                <a:latin typeface="+mn-lt"/>
              </a:rPr>
              <a:t> </a:t>
            </a:r>
          </a:p>
        </p:txBody>
      </p:sp>
      <p:sp>
        <p:nvSpPr>
          <p:cNvPr id="3" name="Content Placeholder 2">
            <a:extLst>
              <a:ext uri="{FF2B5EF4-FFF2-40B4-BE49-F238E27FC236}">
                <a16:creationId xmlns:a16="http://schemas.microsoft.com/office/drawing/2014/main" xmlns="" id="{677F9112-42C0-4EEC-B682-D0BAAD294A91}"/>
              </a:ext>
            </a:extLst>
          </p:cNvPr>
          <p:cNvSpPr>
            <a:spLocks noGrp="1"/>
          </p:cNvSpPr>
          <p:nvPr>
            <p:ph idx="1"/>
          </p:nvPr>
        </p:nvSpPr>
        <p:spPr>
          <a:xfrm>
            <a:off x="838199" y="1056443"/>
            <a:ext cx="10871447" cy="5120520"/>
          </a:xfrm>
        </p:spPr>
        <p:txBody>
          <a:bodyPr>
            <a:noAutofit/>
          </a:bodyPr>
          <a:lstStyle/>
          <a:p>
            <a:pPr>
              <a:lnSpc>
                <a:spcPct val="100000"/>
              </a:lnSpc>
            </a:pPr>
            <a:r>
              <a:rPr lang="en-US" b="0" i="0" dirty="0">
                <a:solidFill>
                  <a:srgbClr val="000000"/>
                </a:solidFill>
                <a:effectLst/>
              </a:rPr>
              <a:t>It is important to have a good </a:t>
            </a:r>
            <a:r>
              <a:rPr lang="en-US" b="0" i="0" dirty="0" err="1">
                <a:solidFill>
                  <a:srgbClr val="000000"/>
                </a:solidFill>
                <a:effectLst/>
              </a:rPr>
              <a:t>organisation</a:t>
            </a:r>
            <a:r>
              <a:rPr lang="en-US" b="0" i="0" dirty="0">
                <a:solidFill>
                  <a:srgbClr val="000000"/>
                </a:solidFill>
                <a:effectLst/>
              </a:rPr>
              <a:t> structure, but it is even more important to fill the jobs with the right people. </a:t>
            </a:r>
          </a:p>
          <a:p>
            <a:pPr>
              <a:lnSpc>
                <a:spcPct val="100000"/>
              </a:lnSpc>
            </a:pPr>
            <a:r>
              <a:rPr lang="en-US" b="0" i="0" dirty="0">
                <a:solidFill>
                  <a:srgbClr val="000000"/>
                </a:solidFill>
                <a:effectLst/>
              </a:rPr>
              <a:t>All managers have a responsibility for staffing. </a:t>
            </a: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117045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612A52E-7746-4450-81C5-72E90A7C4951}"/>
              </a:ext>
            </a:extLst>
          </p:cNvPr>
          <p:cNvSpPr>
            <a:spLocks noGrp="1"/>
          </p:cNvSpPr>
          <p:nvPr>
            <p:ph idx="1"/>
          </p:nvPr>
        </p:nvSpPr>
        <p:spPr>
          <a:xfrm>
            <a:off x="838200" y="497150"/>
            <a:ext cx="10515600" cy="5679813"/>
          </a:xfrm>
        </p:spPr>
        <p:txBody>
          <a:bodyPr/>
          <a:lstStyle/>
          <a:p>
            <a:pPr marL="0" indent="0">
              <a:lnSpc>
                <a:spcPct val="100000"/>
              </a:lnSpc>
              <a:buNone/>
            </a:pPr>
            <a:r>
              <a:rPr lang="en-US" sz="2800" b="0" i="0" dirty="0">
                <a:solidFill>
                  <a:srgbClr val="002060"/>
                </a:solidFill>
                <a:effectLst/>
              </a:rPr>
              <a:t>Staffing includes several sub-functions:</a:t>
            </a:r>
          </a:p>
          <a:p>
            <a:pPr marL="514350" indent="-514350">
              <a:lnSpc>
                <a:spcPct val="100000"/>
              </a:lnSpc>
              <a:buFont typeface="+mj-lt"/>
              <a:buAutoNum type="arabicPeriod"/>
            </a:pPr>
            <a:r>
              <a:rPr lang="en-US" sz="2800" b="0" i="0" dirty="0">
                <a:solidFill>
                  <a:srgbClr val="0070C0"/>
                </a:solidFill>
                <a:effectLst/>
              </a:rPr>
              <a:t>Recruitment, </a:t>
            </a:r>
            <a:r>
              <a:rPr lang="en-US" sz="2800" b="0" i="0" dirty="0">
                <a:solidFill>
                  <a:srgbClr val="000000"/>
                </a:solidFill>
                <a:effectLst/>
              </a:rPr>
              <a:t>or getting applicants for the jobs as they open up.</a:t>
            </a:r>
            <a:endParaRPr lang="en-US" sz="2800" dirty="0">
              <a:solidFill>
                <a:srgbClr val="000000"/>
              </a:solidFill>
            </a:endParaRPr>
          </a:p>
          <a:p>
            <a:pPr marL="514350" indent="-514350">
              <a:lnSpc>
                <a:spcPct val="100000"/>
              </a:lnSpc>
              <a:buFont typeface="+mj-lt"/>
              <a:buAutoNum type="arabicPeriod"/>
            </a:pPr>
            <a:r>
              <a:rPr lang="en-US" sz="2800" b="0" i="0" dirty="0">
                <a:solidFill>
                  <a:srgbClr val="0070C0"/>
                </a:solidFill>
                <a:effectLst/>
              </a:rPr>
              <a:t>Selection</a:t>
            </a:r>
            <a:r>
              <a:rPr lang="en-US" sz="2800" b="0" i="0" dirty="0">
                <a:solidFill>
                  <a:srgbClr val="000000"/>
                </a:solidFill>
                <a:effectLst/>
              </a:rPr>
              <a:t> of the best qualified from those who seek the jobs.</a:t>
            </a:r>
            <a:endParaRPr lang="en-US" sz="2800" dirty="0">
              <a:solidFill>
                <a:srgbClr val="000000"/>
              </a:solidFill>
            </a:endParaRPr>
          </a:p>
          <a:p>
            <a:pPr marL="514350" indent="-514350">
              <a:lnSpc>
                <a:spcPct val="100000"/>
              </a:lnSpc>
              <a:buFont typeface="+mj-lt"/>
              <a:buAutoNum type="arabicPeriod"/>
            </a:pPr>
            <a:r>
              <a:rPr lang="en-US" sz="2800" b="0" i="0" dirty="0">
                <a:solidFill>
                  <a:srgbClr val="0070C0"/>
                </a:solidFill>
                <a:effectLst/>
              </a:rPr>
              <a:t>Training</a:t>
            </a:r>
            <a:r>
              <a:rPr lang="en-US" sz="2800" b="0" i="0" dirty="0">
                <a:solidFill>
                  <a:srgbClr val="000000"/>
                </a:solidFill>
                <a:effectLst/>
              </a:rPr>
              <a:t> those who need further instructions to perform their work effectively or to qualify for promotions.</a:t>
            </a:r>
            <a:endParaRPr lang="en-US" sz="2800" dirty="0">
              <a:solidFill>
                <a:srgbClr val="000000"/>
              </a:solidFill>
            </a:endParaRPr>
          </a:p>
          <a:p>
            <a:pPr marL="514350" indent="-514350">
              <a:lnSpc>
                <a:spcPct val="100000"/>
              </a:lnSpc>
              <a:buFont typeface="+mj-lt"/>
              <a:buAutoNum type="arabicPeriod"/>
            </a:pPr>
            <a:r>
              <a:rPr lang="en-US" sz="2800" b="0" i="0" dirty="0">
                <a:solidFill>
                  <a:srgbClr val="0070C0"/>
                </a:solidFill>
                <a:effectLst/>
              </a:rPr>
              <a:t>Performance appraisal, </a:t>
            </a:r>
            <a:r>
              <a:rPr lang="en-US" sz="2800" b="0" i="0" dirty="0">
                <a:solidFill>
                  <a:srgbClr val="000000"/>
                </a:solidFill>
                <a:effectLst/>
              </a:rPr>
              <a:t>since it serves as the basis for job change or promotion.</a:t>
            </a:r>
            <a:endParaRPr lang="en-US" sz="2800" dirty="0">
              <a:solidFill>
                <a:srgbClr val="000000"/>
              </a:solidFill>
            </a:endParaRPr>
          </a:p>
          <a:p>
            <a:pPr marL="514350" indent="-514350">
              <a:lnSpc>
                <a:spcPct val="100000"/>
              </a:lnSpc>
              <a:buFont typeface="+mj-lt"/>
              <a:buAutoNum type="arabicPeriod"/>
            </a:pPr>
            <a:r>
              <a:rPr lang="en-US" sz="2800" b="0" i="0" dirty="0">
                <a:solidFill>
                  <a:srgbClr val="000000"/>
                </a:solidFill>
                <a:effectLst/>
              </a:rPr>
              <a:t>Administration of </a:t>
            </a:r>
            <a:r>
              <a:rPr lang="en-US" sz="2800" b="0" i="0" dirty="0">
                <a:solidFill>
                  <a:srgbClr val="0070C0"/>
                </a:solidFill>
                <a:effectLst/>
              </a:rPr>
              <a:t>compensation plans, </a:t>
            </a:r>
            <a:r>
              <a:rPr lang="en-US" sz="2800" b="0" i="0" dirty="0">
                <a:solidFill>
                  <a:srgbClr val="000000"/>
                </a:solidFill>
                <a:effectLst/>
              </a:rPr>
              <a:t>since it is an important factor in both getting and holding qualified people.</a:t>
            </a:r>
            <a:endParaRPr lang="en-IN" dirty="0"/>
          </a:p>
        </p:txBody>
      </p:sp>
    </p:spTree>
    <p:extLst>
      <p:ext uri="{BB962C8B-B14F-4D97-AF65-F5344CB8AC3E}">
        <p14:creationId xmlns:p14="http://schemas.microsoft.com/office/powerpoint/2010/main" val="174324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B886BA-E154-4F50-84F4-05A662F747E6}"/>
              </a:ext>
            </a:extLst>
          </p:cNvPr>
          <p:cNvSpPr>
            <a:spLocks noGrp="1"/>
          </p:cNvSpPr>
          <p:nvPr>
            <p:ph type="title"/>
          </p:nvPr>
        </p:nvSpPr>
        <p:spPr>
          <a:xfrm>
            <a:off x="758300" y="436147"/>
            <a:ext cx="10515600" cy="788972"/>
          </a:xfrm>
        </p:spPr>
        <p:txBody>
          <a:bodyPr>
            <a:noAutofit/>
          </a:bodyPr>
          <a:lstStyle/>
          <a:p>
            <a:r>
              <a:rPr lang="en-US" sz="2800" i="0" dirty="0">
                <a:solidFill>
                  <a:srgbClr val="002060"/>
                </a:solidFill>
                <a:effectLst/>
                <a:latin typeface="Arial" panose="020B0604020202020204" pitchFamily="34" charset="0"/>
              </a:rPr>
              <a:t>Importance and Need for Proper Staffing</a:t>
            </a:r>
            <a:r>
              <a:rPr lang="en-US" sz="2800" dirty="0">
                <a:solidFill>
                  <a:srgbClr val="002060"/>
                </a:solidFill>
              </a:rPr>
              <a:t> </a:t>
            </a:r>
            <a:endParaRPr lang="en-IN" sz="2800" dirty="0">
              <a:solidFill>
                <a:srgbClr val="002060"/>
              </a:solidFill>
            </a:endParaRPr>
          </a:p>
        </p:txBody>
      </p:sp>
      <p:sp>
        <p:nvSpPr>
          <p:cNvPr id="3" name="Content Placeholder 2">
            <a:extLst>
              <a:ext uri="{FF2B5EF4-FFF2-40B4-BE49-F238E27FC236}">
                <a16:creationId xmlns:a16="http://schemas.microsoft.com/office/drawing/2014/main" xmlns="" id="{1BA84785-19C2-4809-852D-8F11D7B50A80}"/>
              </a:ext>
            </a:extLst>
          </p:cNvPr>
          <p:cNvSpPr>
            <a:spLocks noGrp="1"/>
          </p:cNvSpPr>
          <p:nvPr>
            <p:ph idx="1"/>
          </p:nvPr>
        </p:nvSpPr>
        <p:spPr>
          <a:xfrm>
            <a:off x="758300" y="1470008"/>
            <a:ext cx="10924713" cy="4318233"/>
          </a:xfrm>
        </p:spPr>
        <p:txBody>
          <a:bodyPr>
            <a:normAutofit/>
          </a:bodyPr>
          <a:lstStyle/>
          <a:p>
            <a:pPr marL="514350" indent="-514350">
              <a:lnSpc>
                <a:spcPct val="100000"/>
              </a:lnSpc>
              <a:buFont typeface="+mj-lt"/>
              <a:buAutoNum type="arabicPeriod"/>
            </a:pPr>
            <a:r>
              <a:rPr lang="en-US" b="0" i="0" dirty="0">
                <a:solidFill>
                  <a:srgbClr val="000000"/>
                </a:solidFill>
                <a:effectLst/>
              </a:rPr>
              <a:t>It helps in discovering talented and competent workers and developing them to move up the corporate ladder.</a:t>
            </a:r>
          </a:p>
          <a:p>
            <a:pPr marL="514350" indent="-514350">
              <a:lnSpc>
                <a:spcPct val="100000"/>
              </a:lnSpc>
              <a:buFont typeface="+mj-lt"/>
              <a:buAutoNum type="arabicPeriod"/>
            </a:pPr>
            <a:r>
              <a:rPr lang="en-US" b="0" i="0" dirty="0">
                <a:solidFill>
                  <a:srgbClr val="000000"/>
                </a:solidFill>
                <a:effectLst/>
              </a:rPr>
              <a:t>It ensures greater production by putting the right man in the right job.</a:t>
            </a:r>
          </a:p>
          <a:p>
            <a:pPr marL="514350" indent="-514350">
              <a:lnSpc>
                <a:spcPct val="100000"/>
              </a:lnSpc>
              <a:buFont typeface="+mj-lt"/>
              <a:buAutoNum type="arabicPeriod"/>
            </a:pPr>
            <a:r>
              <a:rPr lang="en-US" b="0" i="0" dirty="0">
                <a:solidFill>
                  <a:srgbClr val="000000"/>
                </a:solidFill>
                <a:effectLst/>
              </a:rPr>
              <a:t>It helps to avoid a sudden disruption of an enterprise’s production run by indicating shortages of personnel, if any, in advance.</a:t>
            </a:r>
          </a:p>
          <a:p>
            <a:pPr marL="514350" indent="-514350">
              <a:lnSpc>
                <a:spcPct val="100000"/>
              </a:lnSpc>
              <a:buFont typeface="+mj-lt"/>
              <a:buAutoNum type="arabicPeriod"/>
            </a:pPr>
            <a:r>
              <a:rPr lang="en-US" b="0" i="0" dirty="0">
                <a:solidFill>
                  <a:srgbClr val="000000"/>
                </a:solidFill>
                <a:effectLst/>
              </a:rPr>
              <a:t>It helps to prevent </a:t>
            </a:r>
            <a:r>
              <a:rPr lang="en-US" b="0" i="0" dirty="0" err="1">
                <a:solidFill>
                  <a:srgbClr val="000000"/>
                </a:solidFill>
                <a:effectLst/>
              </a:rPr>
              <a:t>under-utilisation</a:t>
            </a:r>
            <a:r>
              <a:rPr lang="en-US" b="0" i="0" dirty="0">
                <a:solidFill>
                  <a:srgbClr val="000000"/>
                </a:solidFill>
                <a:effectLst/>
              </a:rPr>
              <a:t> of personnel through overmanning and the resultant high </a:t>
            </a:r>
            <a:r>
              <a:rPr lang="en-US" b="0" i="0" dirty="0" err="1">
                <a:solidFill>
                  <a:srgbClr val="000000"/>
                </a:solidFill>
                <a:effectLst/>
              </a:rPr>
              <a:t>labour</a:t>
            </a:r>
            <a:r>
              <a:rPr lang="en-US" b="0" i="0" dirty="0">
                <a:solidFill>
                  <a:srgbClr val="000000"/>
                </a:solidFill>
                <a:effectLst/>
              </a:rPr>
              <a:t> cost and low profit margins.</a:t>
            </a:r>
            <a:r>
              <a:rPr lang="en-US" dirty="0"/>
              <a:t/>
            </a:r>
            <a:br>
              <a:rPr lang="en-US" dirty="0"/>
            </a:br>
            <a:endParaRPr lang="en-IN" dirty="0"/>
          </a:p>
        </p:txBody>
      </p:sp>
    </p:spTree>
    <p:extLst>
      <p:ext uri="{BB962C8B-B14F-4D97-AF65-F5344CB8AC3E}">
        <p14:creationId xmlns:p14="http://schemas.microsoft.com/office/powerpoint/2010/main" val="18876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F24557-55AB-465D-8180-FEF3F9725FDA}"/>
              </a:ext>
            </a:extLst>
          </p:cNvPr>
          <p:cNvSpPr>
            <a:spLocks noGrp="1"/>
          </p:cNvSpPr>
          <p:nvPr>
            <p:ph type="title"/>
          </p:nvPr>
        </p:nvSpPr>
        <p:spPr>
          <a:xfrm>
            <a:off x="877410" y="294105"/>
            <a:ext cx="10515600" cy="735706"/>
          </a:xfrm>
        </p:spPr>
        <p:txBody>
          <a:bodyPr>
            <a:normAutofit/>
          </a:bodyPr>
          <a:lstStyle/>
          <a:p>
            <a:r>
              <a:rPr lang="en-IN" sz="3200" b="1" i="0" dirty="0">
                <a:solidFill>
                  <a:srgbClr val="C00000"/>
                </a:solidFill>
                <a:effectLst/>
                <a:latin typeface="+mn-lt"/>
              </a:rPr>
              <a:t>Recruitment</a:t>
            </a:r>
            <a:r>
              <a:rPr lang="en-IN" sz="3200" dirty="0">
                <a:solidFill>
                  <a:srgbClr val="C00000"/>
                </a:solidFill>
                <a:latin typeface="+mn-lt"/>
              </a:rPr>
              <a:t> </a:t>
            </a:r>
          </a:p>
        </p:txBody>
      </p:sp>
      <p:sp>
        <p:nvSpPr>
          <p:cNvPr id="3" name="Content Placeholder 2">
            <a:extLst>
              <a:ext uri="{FF2B5EF4-FFF2-40B4-BE49-F238E27FC236}">
                <a16:creationId xmlns:a16="http://schemas.microsoft.com/office/drawing/2014/main" xmlns="" id="{5EBD524A-109A-4011-9373-07D049D057D4}"/>
              </a:ext>
            </a:extLst>
          </p:cNvPr>
          <p:cNvSpPr>
            <a:spLocks noGrp="1"/>
          </p:cNvSpPr>
          <p:nvPr>
            <p:ph idx="1"/>
          </p:nvPr>
        </p:nvSpPr>
        <p:spPr>
          <a:xfrm>
            <a:off x="838200" y="1100832"/>
            <a:ext cx="10515600" cy="5548543"/>
          </a:xfrm>
        </p:spPr>
        <p:txBody>
          <a:bodyPr>
            <a:normAutofit/>
          </a:bodyPr>
          <a:lstStyle/>
          <a:p>
            <a:pPr>
              <a:lnSpc>
                <a:spcPct val="100000"/>
              </a:lnSpc>
            </a:pPr>
            <a:r>
              <a:rPr lang="en-US" b="0" i="0" dirty="0">
                <a:solidFill>
                  <a:srgbClr val="000000"/>
                </a:solidFill>
                <a:effectLst/>
              </a:rPr>
              <a:t>Once the requirement of manpower is known, the process of recruitment starts. </a:t>
            </a:r>
          </a:p>
          <a:p>
            <a:pPr>
              <a:lnSpc>
                <a:spcPct val="100000"/>
              </a:lnSpc>
            </a:pPr>
            <a:r>
              <a:rPr lang="en-US" sz="2800" b="0" i="0" dirty="0">
                <a:solidFill>
                  <a:srgbClr val="000000"/>
                </a:solidFill>
                <a:effectLst/>
              </a:rPr>
              <a:t>The management should have a proper plan of recruitment regarding the quantity and quality of personnel required and the time when it is needed.</a:t>
            </a:r>
            <a:r>
              <a:rPr lang="en-US" dirty="0"/>
              <a:t> </a:t>
            </a:r>
            <a:br>
              <a:rPr lang="en-US" dirty="0"/>
            </a:br>
            <a:endParaRPr lang="en-IN" dirty="0"/>
          </a:p>
          <a:p>
            <a:pPr>
              <a:lnSpc>
                <a:spcPct val="100000"/>
              </a:lnSpc>
            </a:pPr>
            <a:endParaRPr lang="en-US" b="0" i="0" dirty="0">
              <a:solidFill>
                <a:srgbClr val="000000"/>
              </a:solidFill>
              <a:effectLst/>
            </a:endParaRPr>
          </a:p>
        </p:txBody>
      </p:sp>
    </p:spTree>
    <p:extLst>
      <p:ext uri="{BB962C8B-B14F-4D97-AF65-F5344CB8AC3E}">
        <p14:creationId xmlns:p14="http://schemas.microsoft.com/office/powerpoint/2010/main" val="158700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E1DBA9E-C222-4430-A2B0-A97DBB6B2714}"/>
              </a:ext>
            </a:extLst>
          </p:cNvPr>
          <p:cNvSpPr>
            <a:spLocks noGrp="1"/>
          </p:cNvSpPr>
          <p:nvPr>
            <p:ph idx="1"/>
          </p:nvPr>
        </p:nvSpPr>
        <p:spPr>
          <a:xfrm>
            <a:off x="838200" y="630315"/>
            <a:ext cx="10515600" cy="5546648"/>
          </a:xfrm>
        </p:spPr>
        <p:txBody>
          <a:bodyPr>
            <a:normAutofit/>
          </a:bodyPr>
          <a:lstStyle/>
          <a:p>
            <a:pPr marL="0" indent="0">
              <a:lnSpc>
                <a:spcPct val="100000"/>
              </a:lnSpc>
              <a:buNone/>
            </a:pPr>
            <a:r>
              <a:rPr lang="en-US" dirty="0">
                <a:solidFill>
                  <a:srgbClr val="FF0000"/>
                </a:solidFill>
              </a:rPr>
              <a:t>Definition</a:t>
            </a:r>
            <a:endParaRPr lang="en-US" b="0" i="0" dirty="0">
              <a:solidFill>
                <a:srgbClr val="FF0000"/>
              </a:solidFill>
              <a:effectLst/>
            </a:endParaRPr>
          </a:p>
          <a:p>
            <a:pPr>
              <a:lnSpc>
                <a:spcPct val="100000"/>
              </a:lnSpc>
            </a:pPr>
            <a:r>
              <a:rPr lang="en-US" b="0" i="0" dirty="0">
                <a:solidFill>
                  <a:srgbClr val="000000"/>
                </a:solidFill>
                <a:effectLst/>
              </a:rPr>
              <a:t>The process of identifying the sources for prospective candidates and to stimulate them to apply for the jobs. </a:t>
            </a:r>
          </a:p>
          <a:p>
            <a:pPr marL="0" indent="0" algn="ctr">
              <a:lnSpc>
                <a:spcPct val="100000"/>
              </a:lnSpc>
              <a:buNone/>
            </a:pPr>
            <a:r>
              <a:rPr lang="en-US" dirty="0">
                <a:solidFill>
                  <a:schemeClr val="accent1">
                    <a:lumMod val="75000"/>
                  </a:schemeClr>
                </a:solidFill>
              </a:rPr>
              <a:t>or</a:t>
            </a:r>
            <a:endParaRPr lang="en-US" b="0" i="0" dirty="0">
              <a:solidFill>
                <a:schemeClr val="accent1">
                  <a:lumMod val="75000"/>
                </a:schemeClr>
              </a:solidFill>
              <a:effectLst/>
            </a:endParaRPr>
          </a:p>
          <a:p>
            <a:pPr>
              <a:lnSpc>
                <a:spcPct val="100000"/>
              </a:lnSpc>
            </a:pPr>
            <a:r>
              <a:rPr lang="en-US" dirty="0">
                <a:solidFill>
                  <a:srgbClr val="000000"/>
                </a:solidFill>
              </a:rPr>
              <a:t>R</a:t>
            </a:r>
            <a:r>
              <a:rPr lang="en-US" b="0" i="0" dirty="0">
                <a:solidFill>
                  <a:srgbClr val="000000"/>
                </a:solidFill>
                <a:effectLst/>
              </a:rPr>
              <a:t>ecruitment is the generating of applications or applicants for specific positions.</a:t>
            </a:r>
          </a:p>
          <a:p>
            <a:pPr marL="0" indent="0" algn="ctr">
              <a:lnSpc>
                <a:spcPct val="100000"/>
              </a:lnSpc>
              <a:buNone/>
            </a:pPr>
            <a:r>
              <a:rPr lang="en-US" dirty="0">
                <a:solidFill>
                  <a:schemeClr val="accent1">
                    <a:lumMod val="75000"/>
                  </a:schemeClr>
                </a:solidFill>
              </a:rPr>
              <a:t>or</a:t>
            </a:r>
          </a:p>
          <a:p>
            <a:pPr>
              <a:lnSpc>
                <a:spcPct val="100000"/>
              </a:lnSpc>
            </a:pPr>
            <a:r>
              <a:rPr lang="en-US" b="0" i="0" dirty="0">
                <a:solidFill>
                  <a:srgbClr val="000000"/>
                </a:solidFill>
                <a:effectLst/>
              </a:rPr>
              <a:t>It is the process of attracting potential employees to the company.</a:t>
            </a:r>
            <a:r>
              <a:rPr lang="en-US" dirty="0"/>
              <a:t> </a:t>
            </a:r>
            <a:br>
              <a:rPr lang="en-US" dirty="0"/>
            </a:br>
            <a:endParaRPr lang="en-IN" dirty="0"/>
          </a:p>
          <a:p>
            <a:pPr marL="0" indent="0">
              <a:buNone/>
            </a:pPr>
            <a:endParaRPr lang="en-IN" dirty="0"/>
          </a:p>
        </p:txBody>
      </p:sp>
    </p:spTree>
    <p:extLst>
      <p:ext uri="{BB962C8B-B14F-4D97-AF65-F5344CB8AC3E}">
        <p14:creationId xmlns:p14="http://schemas.microsoft.com/office/powerpoint/2010/main" val="4145224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A25B83-80C9-4EB0-AC85-B77EF7393FE9}"/>
              </a:ext>
            </a:extLst>
          </p:cNvPr>
          <p:cNvSpPr>
            <a:spLocks noGrp="1"/>
          </p:cNvSpPr>
          <p:nvPr>
            <p:ph type="title"/>
          </p:nvPr>
        </p:nvSpPr>
        <p:spPr>
          <a:xfrm>
            <a:off x="838200" y="365126"/>
            <a:ext cx="10515600" cy="531520"/>
          </a:xfrm>
        </p:spPr>
        <p:txBody>
          <a:bodyPr>
            <a:normAutofit/>
          </a:bodyPr>
          <a:lstStyle/>
          <a:p>
            <a:r>
              <a:rPr lang="en-IN" sz="3200" i="0" dirty="0">
                <a:solidFill>
                  <a:schemeClr val="accent1">
                    <a:lumMod val="75000"/>
                  </a:schemeClr>
                </a:solidFill>
                <a:effectLst/>
                <a:latin typeface="+mn-lt"/>
              </a:rPr>
              <a:t>Sources of Recruitment</a:t>
            </a:r>
            <a:endParaRPr lang="en-IN" sz="3200"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xmlns="" id="{7325CFDA-F6C0-4276-9031-1804FF8E87BE}"/>
              </a:ext>
            </a:extLst>
          </p:cNvPr>
          <p:cNvSpPr>
            <a:spLocks noGrp="1"/>
          </p:cNvSpPr>
          <p:nvPr>
            <p:ph idx="1"/>
          </p:nvPr>
        </p:nvSpPr>
        <p:spPr>
          <a:xfrm>
            <a:off x="838200" y="1100831"/>
            <a:ext cx="10515600" cy="5076132"/>
          </a:xfrm>
        </p:spPr>
        <p:txBody>
          <a:bodyPr>
            <a:normAutofit/>
          </a:bodyPr>
          <a:lstStyle/>
          <a:p>
            <a:pPr>
              <a:lnSpc>
                <a:spcPct val="100000"/>
              </a:lnSpc>
            </a:pPr>
            <a:r>
              <a:rPr lang="en-US" b="0" dirty="0">
                <a:solidFill>
                  <a:srgbClr val="000000"/>
                </a:solidFill>
                <a:effectLst/>
              </a:rPr>
              <a:t>The sources of recruitment can be broadly classified into two categories: </a:t>
            </a:r>
            <a:r>
              <a:rPr lang="en-US" b="0" dirty="0">
                <a:solidFill>
                  <a:srgbClr val="FF0000"/>
                </a:solidFill>
                <a:effectLst/>
              </a:rPr>
              <a:t>internal </a:t>
            </a:r>
            <a:r>
              <a:rPr lang="en-US" b="0" dirty="0">
                <a:solidFill>
                  <a:srgbClr val="000000"/>
                </a:solidFill>
                <a:effectLst/>
              </a:rPr>
              <a:t>and </a:t>
            </a:r>
            <a:r>
              <a:rPr lang="en-US" b="0" dirty="0">
                <a:solidFill>
                  <a:srgbClr val="FF0000"/>
                </a:solidFill>
                <a:effectLst/>
              </a:rPr>
              <a:t>external </a:t>
            </a:r>
          </a:p>
          <a:p>
            <a:pPr>
              <a:lnSpc>
                <a:spcPct val="100000"/>
              </a:lnSpc>
            </a:pPr>
            <a:r>
              <a:rPr lang="en-US" b="0" dirty="0">
                <a:solidFill>
                  <a:srgbClr val="000000"/>
                </a:solidFill>
                <a:effectLst/>
              </a:rPr>
              <a:t>Internal</a:t>
            </a:r>
            <a:r>
              <a:rPr lang="en-US" dirty="0">
                <a:solidFill>
                  <a:srgbClr val="000000"/>
                </a:solidFill>
              </a:rPr>
              <a:t> </a:t>
            </a:r>
            <a:r>
              <a:rPr lang="en-US" b="0" dirty="0">
                <a:solidFill>
                  <a:srgbClr val="000000"/>
                </a:solidFill>
                <a:effectLst/>
              </a:rPr>
              <a:t>sources refer to the present working force of a company.</a:t>
            </a:r>
          </a:p>
          <a:p>
            <a:pPr>
              <a:lnSpc>
                <a:spcPct val="100000"/>
              </a:lnSpc>
            </a:pPr>
            <a:r>
              <a:rPr lang="en-US" b="0" dirty="0">
                <a:solidFill>
                  <a:srgbClr val="000000"/>
                </a:solidFill>
                <a:effectLst/>
              </a:rPr>
              <a:t>Vacancies other than at the lowest level may be filled by selecting individuals from amongst the existing employees of the company. </a:t>
            </a:r>
            <a:r>
              <a:rPr lang="en-US" dirty="0"/>
              <a:t/>
            </a:r>
            <a:br>
              <a:rPr lang="en-US" dirty="0"/>
            </a:br>
            <a:r>
              <a:rPr lang="en-IN" dirty="0"/>
              <a:t/>
            </a:r>
            <a:br>
              <a:rPr lang="en-IN" dirty="0"/>
            </a:br>
            <a:endParaRPr lang="en-IN" dirty="0"/>
          </a:p>
        </p:txBody>
      </p:sp>
    </p:spTree>
    <p:extLst>
      <p:ext uri="{BB962C8B-B14F-4D97-AF65-F5344CB8AC3E}">
        <p14:creationId xmlns:p14="http://schemas.microsoft.com/office/powerpoint/2010/main" val="38704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2E4FE1C-48DF-4367-B36B-68AEB372F050}"/>
              </a:ext>
            </a:extLst>
          </p:cNvPr>
          <p:cNvSpPr>
            <a:spLocks noGrp="1"/>
          </p:cNvSpPr>
          <p:nvPr>
            <p:ph idx="1"/>
          </p:nvPr>
        </p:nvSpPr>
        <p:spPr>
          <a:xfrm>
            <a:off x="838200" y="355107"/>
            <a:ext cx="10515600" cy="5821856"/>
          </a:xfrm>
        </p:spPr>
        <p:txBody>
          <a:bodyPr>
            <a:noAutofit/>
          </a:bodyPr>
          <a:lstStyle/>
          <a:p>
            <a:pPr marL="0" indent="0">
              <a:buNone/>
            </a:pPr>
            <a:r>
              <a:rPr lang="en-US" dirty="0">
                <a:solidFill>
                  <a:srgbClr val="002060"/>
                </a:solidFill>
              </a:rPr>
              <a:t>E</a:t>
            </a:r>
            <a:r>
              <a:rPr lang="en-US" dirty="0">
                <a:solidFill>
                  <a:srgbClr val="002060"/>
                </a:solidFill>
                <a:effectLst/>
              </a:rPr>
              <a:t>xternal sources are:</a:t>
            </a:r>
          </a:p>
          <a:p>
            <a:r>
              <a:rPr lang="en-IN" dirty="0">
                <a:solidFill>
                  <a:srgbClr val="000000"/>
                </a:solidFill>
                <a:effectLst/>
              </a:rPr>
              <a:t>Re-employing former employees</a:t>
            </a:r>
            <a:r>
              <a:rPr lang="en-IN" dirty="0"/>
              <a:t> </a:t>
            </a:r>
          </a:p>
          <a:p>
            <a:r>
              <a:rPr lang="en-US" dirty="0">
                <a:solidFill>
                  <a:srgbClr val="000000"/>
                </a:solidFill>
                <a:effectLst/>
              </a:rPr>
              <a:t>Friends and relatives of present employees</a:t>
            </a:r>
            <a:r>
              <a:rPr lang="en-US" dirty="0"/>
              <a:t> </a:t>
            </a:r>
          </a:p>
          <a:p>
            <a:r>
              <a:rPr lang="en-IN" dirty="0">
                <a:solidFill>
                  <a:srgbClr val="000000"/>
                </a:solidFill>
                <a:effectLst/>
              </a:rPr>
              <a:t>Applicants at the gate</a:t>
            </a:r>
            <a:r>
              <a:rPr lang="en-IN" dirty="0"/>
              <a:t> </a:t>
            </a:r>
          </a:p>
          <a:p>
            <a:r>
              <a:rPr lang="en-IN" dirty="0">
                <a:solidFill>
                  <a:srgbClr val="000000"/>
                </a:solidFill>
                <a:effectLst/>
              </a:rPr>
              <a:t>College and technical institutions</a:t>
            </a:r>
            <a:r>
              <a:rPr lang="en-IN" dirty="0"/>
              <a:t> </a:t>
            </a:r>
          </a:p>
          <a:p>
            <a:r>
              <a:rPr lang="en-IN" dirty="0">
                <a:solidFill>
                  <a:srgbClr val="000000"/>
                </a:solidFill>
                <a:effectLst/>
              </a:rPr>
              <a:t>Employment exchanges</a:t>
            </a:r>
            <a:r>
              <a:rPr lang="en-IN" dirty="0"/>
              <a:t> </a:t>
            </a:r>
          </a:p>
          <a:p>
            <a:r>
              <a:rPr lang="en-IN" dirty="0">
                <a:solidFill>
                  <a:srgbClr val="000000"/>
                </a:solidFill>
                <a:effectLst/>
              </a:rPr>
              <a:t>Advertising the vacancy</a:t>
            </a:r>
            <a:r>
              <a:rPr lang="en-IN" dirty="0"/>
              <a:t> </a:t>
            </a:r>
          </a:p>
          <a:p>
            <a:r>
              <a:rPr lang="en-IN" dirty="0">
                <a:solidFill>
                  <a:srgbClr val="000000"/>
                </a:solidFill>
                <a:effectLst/>
              </a:rPr>
              <a:t>Labour unions</a:t>
            </a:r>
            <a:r>
              <a:rPr lang="en-IN" dirty="0"/>
              <a:t> </a:t>
            </a:r>
            <a:br>
              <a:rPr lang="en-IN" dirty="0"/>
            </a:br>
            <a:r>
              <a:rPr lang="en-IN" dirty="0"/>
              <a:t/>
            </a:r>
            <a:br>
              <a:rPr lang="en-IN" dirty="0"/>
            </a:br>
            <a:r>
              <a:rPr lang="en-IN" dirty="0"/>
              <a:t/>
            </a:r>
            <a:br>
              <a:rPr lang="en-IN" dirty="0"/>
            </a:br>
            <a:r>
              <a:rPr lang="en-IN" dirty="0"/>
              <a:t/>
            </a:r>
            <a:br>
              <a:rPr lang="en-IN" dirty="0"/>
            </a:br>
            <a:r>
              <a:rPr lang="en-IN" dirty="0"/>
              <a:t/>
            </a:r>
            <a:br>
              <a:rPr lang="en-IN" dirty="0"/>
            </a:br>
            <a:r>
              <a:rPr lang="en-US" dirty="0"/>
              <a:t/>
            </a:r>
            <a:br>
              <a:rPr lang="en-US" dirty="0"/>
            </a:br>
            <a:r>
              <a:rPr lang="en-IN" dirty="0"/>
              <a:t/>
            </a:r>
            <a:br>
              <a:rPr lang="en-IN" dirty="0"/>
            </a:br>
            <a:endParaRPr lang="en-IN" dirty="0"/>
          </a:p>
        </p:txBody>
      </p:sp>
    </p:spTree>
    <p:extLst>
      <p:ext uri="{BB962C8B-B14F-4D97-AF65-F5344CB8AC3E}">
        <p14:creationId xmlns:p14="http://schemas.microsoft.com/office/powerpoint/2010/main" val="178501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4613BE-B42C-448B-8EED-D8BB10DDA4B8}"/>
              </a:ext>
            </a:extLst>
          </p:cNvPr>
          <p:cNvSpPr>
            <a:spLocks noGrp="1"/>
          </p:cNvSpPr>
          <p:nvPr>
            <p:ph type="title"/>
          </p:nvPr>
        </p:nvSpPr>
        <p:spPr>
          <a:xfrm>
            <a:off x="536360" y="276349"/>
            <a:ext cx="10515600" cy="540397"/>
          </a:xfrm>
        </p:spPr>
        <p:txBody>
          <a:bodyPr>
            <a:normAutofit/>
          </a:bodyPr>
          <a:lstStyle/>
          <a:p>
            <a:r>
              <a:rPr lang="en-IN" sz="2800" i="0" dirty="0">
                <a:solidFill>
                  <a:schemeClr val="accent5">
                    <a:lumMod val="50000"/>
                  </a:schemeClr>
                </a:solidFill>
                <a:effectLst/>
                <a:latin typeface="+mn-lt"/>
              </a:rPr>
              <a:t>Evaluation of Alternative Sources</a:t>
            </a:r>
            <a:r>
              <a:rPr lang="en-IN" sz="2800" dirty="0">
                <a:solidFill>
                  <a:schemeClr val="accent5">
                    <a:lumMod val="50000"/>
                  </a:schemeClr>
                </a:solidFill>
                <a:latin typeface="+mn-lt"/>
              </a:rPr>
              <a:t> </a:t>
            </a:r>
          </a:p>
        </p:txBody>
      </p:sp>
      <p:sp>
        <p:nvSpPr>
          <p:cNvPr id="3" name="Content Placeholder 2">
            <a:extLst>
              <a:ext uri="{FF2B5EF4-FFF2-40B4-BE49-F238E27FC236}">
                <a16:creationId xmlns:a16="http://schemas.microsoft.com/office/drawing/2014/main" xmlns="" id="{AA1DA7A1-0C14-4883-B7B2-EA4367F6098B}"/>
              </a:ext>
            </a:extLst>
          </p:cNvPr>
          <p:cNvSpPr>
            <a:spLocks noGrp="1"/>
          </p:cNvSpPr>
          <p:nvPr>
            <p:ph idx="1"/>
          </p:nvPr>
        </p:nvSpPr>
        <p:spPr>
          <a:xfrm>
            <a:off x="536360" y="905522"/>
            <a:ext cx="10933590" cy="4587860"/>
          </a:xfrm>
        </p:spPr>
        <p:txBody>
          <a:bodyPr>
            <a:noAutofit/>
          </a:bodyPr>
          <a:lstStyle/>
          <a:p>
            <a:pPr marL="0" indent="0">
              <a:lnSpc>
                <a:spcPct val="100000"/>
              </a:lnSpc>
              <a:spcBef>
                <a:spcPts val="600"/>
              </a:spcBef>
              <a:buNone/>
            </a:pPr>
            <a:r>
              <a:rPr lang="en-US" sz="2500" b="0" i="0" dirty="0">
                <a:solidFill>
                  <a:srgbClr val="FF0000"/>
                </a:solidFill>
                <a:effectLst/>
              </a:rPr>
              <a:t>Following are some of the measures which can be used to assess how good or how poor various sources have proved to be:</a:t>
            </a:r>
          </a:p>
          <a:p>
            <a:pPr marL="457200" indent="-457200">
              <a:lnSpc>
                <a:spcPct val="100000"/>
              </a:lnSpc>
              <a:spcBef>
                <a:spcPts val="600"/>
              </a:spcBef>
              <a:buFont typeface="+mj-lt"/>
              <a:buAutoNum type="arabicPeriod"/>
            </a:pPr>
            <a:r>
              <a:rPr lang="en-US" sz="2500" b="0" i="0" dirty="0">
                <a:solidFill>
                  <a:srgbClr val="000000"/>
                </a:solidFill>
                <a:effectLst/>
              </a:rPr>
              <a:t>Time lag between requisition and placement</a:t>
            </a:r>
          </a:p>
          <a:p>
            <a:pPr marL="457200" indent="-457200">
              <a:lnSpc>
                <a:spcPct val="100000"/>
              </a:lnSpc>
              <a:spcBef>
                <a:spcPts val="600"/>
              </a:spcBef>
              <a:buFont typeface="+mj-lt"/>
              <a:buAutoNum type="arabicPeriod"/>
            </a:pPr>
            <a:r>
              <a:rPr lang="en-US" sz="2500" b="0" i="0" dirty="0">
                <a:solidFill>
                  <a:srgbClr val="000000"/>
                </a:solidFill>
                <a:effectLst/>
              </a:rPr>
              <a:t>Recruitment ratio, that is, the number of persons actually hired, per 100 applicants</a:t>
            </a:r>
          </a:p>
          <a:p>
            <a:pPr marL="457200" indent="-457200">
              <a:lnSpc>
                <a:spcPct val="100000"/>
              </a:lnSpc>
              <a:spcBef>
                <a:spcPts val="600"/>
              </a:spcBef>
              <a:buFont typeface="+mj-lt"/>
              <a:buAutoNum type="arabicPeriod"/>
            </a:pPr>
            <a:r>
              <a:rPr lang="en-US" sz="2500" b="0" i="0" dirty="0">
                <a:solidFill>
                  <a:srgbClr val="000000"/>
                </a:solidFill>
                <a:effectLst/>
              </a:rPr>
              <a:t>Employee attitude studies to discover the reactions of present employees to both external and internal recruiting</a:t>
            </a:r>
          </a:p>
          <a:p>
            <a:pPr marL="457200" indent="-457200">
              <a:lnSpc>
                <a:spcPct val="100000"/>
              </a:lnSpc>
              <a:spcBef>
                <a:spcPts val="600"/>
              </a:spcBef>
              <a:buFont typeface="+mj-lt"/>
              <a:buAutoNum type="arabicPeriod"/>
            </a:pPr>
            <a:r>
              <a:rPr lang="en-US" sz="2500" b="0" i="0" dirty="0">
                <a:solidFill>
                  <a:srgbClr val="000000"/>
                </a:solidFill>
                <a:effectLst/>
              </a:rPr>
              <a:t>Correlation between different sources of recruitment and factors of success on the job</a:t>
            </a:r>
          </a:p>
          <a:p>
            <a:pPr marL="457200" indent="-457200">
              <a:spcBef>
                <a:spcPts val="600"/>
              </a:spcBef>
              <a:buFont typeface="+mj-lt"/>
              <a:buAutoNum type="arabicPeriod"/>
            </a:pPr>
            <a:r>
              <a:rPr lang="en-US" sz="2500" b="0" i="0" dirty="0">
                <a:solidFill>
                  <a:srgbClr val="000000"/>
                </a:solidFill>
                <a:effectLst/>
              </a:rPr>
              <a:t>Data on turnover, grievances, and disciplinary action, tabulated according to different sources of recruitment to throw light on the relative merits of each source.</a:t>
            </a:r>
          </a:p>
          <a:p>
            <a:pPr marL="457200" indent="-457200">
              <a:spcBef>
                <a:spcPts val="600"/>
              </a:spcBef>
              <a:buFont typeface="+mj-lt"/>
              <a:buAutoNum type="arabicPeriod"/>
            </a:pPr>
            <a:r>
              <a:rPr lang="en-US" sz="2500" b="0" i="0" dirty="0">
                <a:solidFill>
                  <a:srgbClr val="000000"/>
                </a:solidFill>
                <a:effectLst/>
              </a:rPr>
              <a:t>Gross cost per hire. This is arrived at by dividing the total cost of recruitment by the number of individuals hired.</a:t>
            </a:r>
            <a:endParaRPr lang="en-IN" sz="2500" dirty="0"/>
          </a:p>
          <a:p>
            <a:pPr marL="0" indent="0">
              <a:lnSpc>
                <a:spcPct val="100000"/>
              </a:lnSpc>
              <a:spcBef>
                <a:spcPts val="600"/>
              </a:spcBef>
              <a:buNone/>
            </a:pPr>
            <a:r>
              <a:rPr lang="en-US" sz="2500" dirty="0"/>
              <a:t/>
            </a:r>
            <a:br>
              <a:rPr lang="en-US" sz="2500" dirty="0"/>
            </a:br>
            <a:endParaRPr lang="en-IN" sz="2500" dirty="0"/>
          </a:p>
        </p:txBody>
      </p:sp>
    </p:spTree>
    <p:extLst>
      <p:ext uri="{BB962C8B-B14F-4D97-AF65-F5344CB8AC3E}">
        <p14:creationId xmlns:p14="http://schemas.microsoft.com/office/powerpoint/2010/main" val="406673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09BC7F-855D-4B61-BDE4-E1AC6C6A6865}"/>
              </a:ext>
            </a:extLst>
          </p:cNvPr>
          <p:cNvSpPr>
            <a:spLocks noGrp="1"/>
          </p:cNvSpPr>
          <p:nvPr>
            <p:ph type="title"/>
          </p:nvPr>
        </p:nvSpPr>
        <p:spPr>
          <a:xfrm>
            <a:off x="838200" y="365126"/>
            <a:ext cx="10515600" cy="558152"/>
          </a:xfrm>
        </p:spPr>
        <p:txBody>
          <a:bodyPr>
            <a:normAutofit/>
          </a:bodyPr>
          <a:lstStyle/>
          <a:p>
            <a:r>
              <a:rPr lang="en-US" sz="2800" i="0" dirty="0">
                <a:solidFill>
                  <a:srgbClr val="002060"/>
                </a:solidFill>
                <a:effectLst/>
                <a:latin typeface="Arial" panose="020B0604020202020204" pitchFamily="34" charset="0"/>
              </a:rPr>
              <a:t>Advantages of Internal Recruitment</a:t>
            </a:r>
            <a:r>
              <a:rPr lang="en-US" sz="2800" dirty="0">
                <a:solidFill>
                  <a:srgbClr val="002060"/>
                </a:solidFill>
              </a:rPr>
              <a:t> </a:t>
            </a:r>
            <a:endParaRPr lang="en-IN" sz="2800" dirty="0">
              <a:solidFill>
                <a:srgbClr val="002060"/>
              </a:solidFill>
            </a:endParaRPr>
          </a:p>
        </p:txBody>
      </p:sp>
      <p:sp>
        <p:nvSpPr>
          <p:cNvPr id="3" name="Content Placeholder 2">
            <a:extLst>
              <a:ext uri="{FF2B5EF4-FFF2-40B4-BE49-F238E27FC236}">
                <a16:creationId xmlns:a16="http://schemas.microsoft.com/office/drawing/2014/main" xmlns="" id="{473646B5-50DB-47AF-A403-EFEEA0DBC5BC}"/>
              </a:ext>
            </a:extLst>
          </p:cNvPr>
          <p:cNvSpPr>
            <a:spLocks noGrp="1"/>
          </p:cNvSpPr>
          <p:nvPr>
            <p:ph idx="1"/>
          </p:nvPr>
        </p:nvSpPr>
        <p:spPr>
          <a:xfrm>
            <a:off x="838200" y="1029810"/>
            <a:ext cx="10515600" cy="5147153"/>
          </a:xfrm>
        </p:spPr>
        <p:txBody>
          <a:bodyPr>
            <a:noAutofit/>
          </a:bodyPr>
          <a:lstStyle/>
          <a:p>
            <a:pPr marL="457200" indent="-457200">
              <a:lnSpc>
                <a:spcPct val="100000"/>
              </a:lnSpc>
              <a:spcBef>
                <a:spcPts val="600"/>
              </a:spcBef>
              <a:buFont typeface="+mj-lt"/>
              <a:buAutoNum type="arabicPeriod"/>
            </a:pPr>
            <a:r>
              <a:rPr lang="en-US" b="0" i="0" dirty="0">
                <a:solidFill>
                  <a:srgbClr val="000000"/>
                </a:solidFill>
                <a:effectLst/>
              </a:rPr>
              <a:t>A sense of security develops among the employees</a:t>
            </a:r>
            <a:r>
              <a:rPr lang="en-US" dirty="0"/>
              <a:t> </a:t>
            </a:r>
          </a:p>
          <a:p>
            <a:pPr marL="457200" indent="-457200">
              <a:lnSpc>
                <a:spcPct val="100000"/>
              </a:lnSpc>
              <a:spcBef>
                <a:spcPts val="600"/>
              </a:spcBef>
              <a:buFont typeface="+mj-lt"/>
              <a:buAutoNum type="arabicPeriod"/>
            </a:pPr>
            <a:r>
              <a:rPr lang="en-US" b="0" i="0" dirty="0">
                <a:solidFill>
                  <a:srgbClr val="000000"/>
                </a:solidFill>
                <a:effectLst/>
              </a:rPr>
              <a:t>Employees remain loyal to the organization</a:t>
            </a:r>
            <a:endParaRPr lang="en-US" dirty="0">
              <a:solidFill>
                <a:srgbClr val="000000"/>
              </a:solidFill>
            </a:endParaRPr>
          </a:p>
          <a:p>
            <a:pPr marL="457200" indent="-457200">
              <a:lnSpc>
                <a:spcPct val="100000"/>
              </a:lnSpc>
              <a:spcBef>
                <a:spcPts val="600"/>
              </a:spcBef>
              <a:buFont typeface="+mj-lt"/>
              <a:buAutoNum type="arabicPeriod"/>
            </a:pPr>
            <a:r>
              <a:rPr lang="en-US" b="0" i="0" dirty="0">
                <a:solidFill>
                  <a:srgbClr val="000000"/>
                </a:solidFill>
                <a:effectLst/>
              </a:rPr>
              <a:t>People recruited from within the </a:t>
            </a:r>
            <a:r>
              <a:rPr lang="en-US" b="0" i="0" dirty="0" err="1">
                <a:solidFill>
                  <a:srgbClr val="000000"/>
                </a:solidFill>
                <a:effectLst/>
              </a:rPr>
              <a:t>organisation</a:t>
            </a:r>
            <a:r>
              <a:rPr lang="en-US" b="0" i="0" dirty="0">
                <a:solidFill>
                  <a:srgbClr val="000000"/>
                </a:solidFill>
                <a:effectLst/>
              </a:rPr>
              <a:t> do not need induction training</a:t>
            </a:r>
            <a:endParaRPr lang="en-US" dirty="0">
              <a:solidFill>
                <a:srgbClr val="000000"/>
              </a:solidFill>
            </a:endParaRPr>
          </a:p>
          <a:p>
            <a:pPr marL="457200" indent="-457200">
              <a:lnSpc>
                <a:spcPct val="100000"/>
              </a:lnSpc>
              <a:spcBef>
                <a:spcPts val="600"/>
              </a:spcBef>
              <a:buFont typeface="+mj-lt"/>
              <a:buAutoNum type="arabicPeriod"/>
            </a:pPr>
            <a:r>
              <a:rPr lang="en-US" b="0" i="0" dirty="0">
                <a:solidFill>
                  <a:srgbClr val="000000"/>
                </a:solidFill>
                <a:effectLst/>
              </a:rPr>
              <a:t>Employees in the lower ranks are encouraged to look forward to rising to higher position in the concern</a:t>
            </a:r>
          </a:p>
          <a:p>
            <a:pPr marL="457200" indent="-457200">
              <a:lnSpc>
                <a:spcPct val="100000"/>
              </a:lnSpc>
              <a:spcBef>
                <a:spcPts val="600"/>
              </a:spcBef>
              <a:buFont typeface="+mj-lt"/>
              <a:buAutoNum type="arabicPeriod"/>
            </a:pPr>
            <a:r>
              <a:rPr lang="en-US" b="0" i="0" dirty="0" err="1">
                <a:solidFill>
                  <a:srgbClr val="000000"/>
                </a:solidFill>
                <a:effectLst/>
              </a:rPr>
              <a:t>Labour</a:t>
            </a:r>
            <a:r>
              <a:rPr lang="en-US" b="0" i="0" dirty="0">
                <a:solidFill>
                  <a:srgbClr val="000000"/>
                </a:solidFill>
                <a:effectLst/>
              </a:rPr>
              <a:t> turnover is reduced</a:t>
            </a:r>
            <a:endParaRPr lang="en-US" dirty="0">
              <a:solidFill>
                <a:srgbClr val="000000"/>
              </a:solidFill>
            </a:endParaRPr>
          </a:p>
          <a:p>
            <a:pPr marL="457200" indent="-457200">
              <a:lnSpc>
                <a:spcPct val="100000"/>
              </a:lnSpc>
              <a:spcBef>
                <a:spcPts val="600"/>
              </a:spcBef>
              <a:buFont typeface="+mj-lt"/>
              <a:buAutoNum type="arabicPeriod"/>
            </a:pPr>
            <a:r>
              <a:rPr lang="en-US" b="0" i="0" dirty="0">
                <a:solidFill>
                  <a:srgbClr val="000000"/>
                </a:solidFill>
                <a:effectLst/>
              </a:rPr>
              <a:t>People are motivated to become efficient</a:t>
            </a:r>
            <a:endParaRPr lang="en-US" dirty="0">
              <a:solidFill>
                <a:srgbClr val="000000"/>
              </a:solidFill>
            </a:endParaRPr>
          </a:p>
          <a:p>
            <a:pPr marL="457200" indent="-457200">
              <a:lnSpc>
                <a:spcPct val="100000"/>
              </a:lnSpc>
              <a:spcBef>
                <a:spcPts val="600"/>
              </a:spcBef>
              <a:buFont typeface="+mj-lt"/>
              <a:buAutoNum type="arabicPeriod"/>
            </a:pPr>
            <a:r>
              <a:rPr lang="en-US" b="0" i="0" dirty="0">
                <a:solidFill>
                  <a:srgbClr val="000000"/>
                </a:solidFill>
                <a:effectLst/>
              </a:rPr>
              <a:t>Valuable contacts with major suppliers and customers remain intact</a:t>
            </a:r>
            <a:endParaRPr lang="en-US" dirty="0">
              <a:solidFill>
                <a:srgbClr val="000000"/>
              </a:solidFill>
            </a:endParaRPr>
          </a:p>
          <a:p>
            <a:pPr marL="457200" indent="-457200">
              <a:lnSpc>
                <a:spcPct val="100000"/>
              </a:lnSpc>
              <a:spcBef>
                <a:spcPts val="600"/>
              </a:spcBef>
              <a:buFont typeface="+mj-lt"/>
              <a:buAutoNum type="arabicPeriod"/>
            </a:pPr>
            <a:r>
              <a:rPr lang="en-US" b="0" i="0" dirty="0">
                <a:solidFill>
                  <a:srgbClr val="000000"/>
                </a:solidFill>
                <a:effectLst/>
              </a:rPr>
              <a:t>A better employer-employee relationship is established</a:t>
            </a: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166738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5A4FE7-3B9C-4881-AB46-86F4C12D785E}"/>
              </a:ext>
            </a:extLst>
          </p:cNvPr>
          <p:cNvSpPr>
            <a:spLocks noGrp="1"/>
          </p:cNvSpPr>
          <p:nvPr>
            <p:ph type="title"/>
          </p:nvPr>
        </p:nvSpPr>
        <p:spPr>
          <a:xfrm>
            <a:off x="838200" y="365126"/>
            <a:ext cx="10515600" cy="620296"/>
          </a:xfrm>
        </p:spPr>
        <p:txBody>
          <a:bodyPr>
            <a:normAutofit/>
          </a:bodyPr>
          <a:lstStyle/>
          <a:p>
            <a:r>
              <a:rPr lang="en-US" sz="2800" i="0" dirty="0">
                <a:solidFill>
                  <a:srgbClr val="002060"/>
                </a:solidFill>
                <a:effectLst/>
                <a:latin typeface="Arial" panose="020B0604020202020204" pitchFamily="34" charset="0"/>
              </a:rPr>
              <a:t>Disadvantages of Internal Recruitment</a:t>
            </a:r>
            <a:r>
              <a:rPr lang="en-US" sz="2800" dirty="0">
                <a:solidFill>
                  <a:srgbClr val="002060"/>
                </a:solidFill>
              </a:rPr>
              <a:t> </a:t>
            </a:r>
            <a:endParaRPr lang="en-IN" sz="2800" dirty="0"/>
          </a:p>
        </p:txBody>
      </p:sp>
      <p:sp>
        <p:nvSpPr>
          <p:cNvPr id="3" name="Content Placeholder 2">
            <a:extLst>
              <a:ext uri="{FF2B5EF4-FFF2-40B4-BE49-F238E27FC236}">
                <a16:creationId xmlns:a16="http://schemas.microsoft.com/office/drawing/2014/main" xmlns="" id="{195A4606-E653-4D1E-86AA-B0E263A29E3C}"/>
              </a:ext>
            </a:extLst>
          </p:cNvPr>
          <p:cNvSpPr>
            <a:spLocks noGrp="1"/>
          </p:cNvSpPr>
          <p:nvPr>
            <p:ph idx="1"/>
          </p:nvPr>
        </p:nvSpPr>
        <p:spPr>
          <a:xfrm>
            <a:off x="838200" y="1136342"/>
            <a:ext cx="10515600" cy="5040621"/>
          </a:xfrm>
        </p:spPr>
        <p:txBody>
          <a:bodyPr>
            <a:normAutofit/>
          </a:bodyPr>
          <a:lstStyle/>
          <a:p>
            <a:pPr marL="514350" indent="-514350">
              <a:lnSpc>
                <a:spcPct val="100000"/>
              </a:lnSpc>
              <a:buFont typeface="+mj-lt"/>
              <a:buAutoNum type="arabicPeriod"/>
            </a:pPr>
            <a:r>
              <a:rPr lang="en-US" b="0" i="0" dirty="0">
                <a:solidFill>
                  <a:srgbClr val="000000"/>
                </a:solidFill>
                <a:effectLst/>
              </a:rPr>
              <a:t>This method limits the choice of selection to the few candidates available within the enterprise.</a:t>
            </a:r>
          </a:p>
          <a:p>
            <a:pPr marL="514350" indent="-514350">
              <a:lnSpc>
                <a:spcPct val="100000"/>
              </a:lnSpc>
              <a:buFont typeface="+mj-lt"/>
              <a:buAutoNum type="arabicPeriod"/>
            </a:pPr>
            <a:r>
              <a:rPr lang="en-US" b="0" i="0" dirty="0">
                <a:solidFill>
                  <a:srgbClr val="000000"/>
                </a:solidFill>
                <a:effectLst/>
              </a:rPr>
              <a:t>It may encourage </a:t>
            </a:r>
            <a:r>
              <a:rPr lang="en-US" b="0" i="0" dirty="0" err="1">
                <a:solidFill>
                  <a:srgbClr val="000000"/>
                </a:solidFill>
                <a:effectLst/>
              </a:rPr>
              <a:t>favouritism</a:t>
            </a:r>
            <a:r>
              <a:rPr lang="en-US" b="0" i="0" dirty="0">
                <a:solidFill>
                  <a:srgbClr val="000000"/>
                </a:solidFill>
                <a:effectLst/>
              </a:rPr>
              <a:t> and nepotism.</a:t>
            </a:r>
          </a:p>
          <a:p>
            <a:pPr marL="514350" indent="-514350">
              <a:lnSpc>
                <a:spcPct val="100000"/>
              </a:lnSpc>
              <a:buFont typeface="+mj-lt"/>
              <a:buAutoNum type="arabicPeriod"/>
            </a:pPr>
            <a:r>
              <a:rPr lang="en-US" b="0" i="0" dirty="0">
                <a:solidFill>
                  <a:srgbClr val="000000"/>
                </a:solidFill>
                <a:effectLst/>
              </a:rPr>
              <a:t>If a concern is extending its activities into new lines, internal candidates may prove unsuitable for new positions. This may involve extra expenditure in imparting necessary training to them.</a:t>
            </a:r>
            <a:r>
              <a:rPr lang="en-US" dirty="0"/>
              <a:t> </a:t>
            </a:r>
            <a:br>
              <a:rPr lang="en-US" dirty="0"/>
            </a:br>
            <a:endParaRPr lang="en-IN" dirty="0"/>
          </a:p>
        </p:txBody>
      </p:sp>
    </p:spTree>
    <p:extLst>
      <p:ext uri="{BB962C8B-B14F-4D97-AF65-F5344CB8AC3E}">
        <p14:creationId xmlns:p14="http://schemas.microsoft.com/office/powerpoint/2010/main" val="267446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830244-3A2B-42BF-AADB-267E3DF5FFFC}"/>
              </a:ext>
            </a:extLst>
          </p:cNvPr>
          <p:cNvSpPr>
            <a:spLocks noGrp="1"/>
          </p:cNvSpPr>
          <p:nvPr>
            <p:ph type="title"/>
          </p:nvPr>
        </p:nvSpPr>
        <p:spPr>
          <a:xfrm>
            <a:off x="838200" y="365126"/>
            <a:ext cx="10515600" cy="522642"/>
          </a:xfrm>
        </p:spPr>
        <p:txBody>
          <a:bodyPr>
            <a:normAutofit/>
          </a:bodyPr>
          <a:lstStyle/>
          <a:p>
            <a:r>
              <a:rPr lang="en-US" sz="2800" i="0" dirty="0">
                <a:solidFill>
                  <a:srgbClr val="002060"/>
                </a:solidFill>
                <a:effectLst/>
                <a:latin typeface="Arial" panose="020B0604020202020204" pitchFamily="34" charset="0"/>
              </a:rPr>
              <a:t>Advantages of External Recruitment</a:t>
            </a:r>
            <a:r>
              <a:rPr lang="en-US" sz="2800" dirty="0">
                <a:solidFill>
                  <a:srgbClr val="002060"/>
                </a:solidFill>
              </a:rPr>
              <a:t> </a:t>
            </a:r>
            <a:endParaRPr lang="en-IN" sz="2800" dirty="0"/>
          </a:p>
        </p:txBody>
      </p:sp>
      <p:sp>
        <p:nvSpPr>
          <p:cNvPr id="3" name="Content Placeholder 2">
            <a:extLst>
              <a:ext uri="{FF2B5EF4-FFF2-40B4-BE49-F238E27FC236}">
                <a16:creationId xmlns:a16="http://schemas.microsoft.com/office/drawing/2014/main" xmlns="" id="{77CEFEEE-CB8A-43D8-927F-E2A2F9889574}"/>
              </a:ext>
            </a:extLst>
          </p:cNvPr>
          <p:cNvSpPr>
            <a:spLocks noGrp="1"/>
          </p:cNvSpPr>
          <p:nvPr>
            <p:ph idx="1"/>
          </p:nvPr>
        </p:nvSpPr>
        <p:spPr>
          <a:xfrm>
            <a:off x="838200" y="1029810"/>
            <a:ext cx="10515600" cy="5147153"/>
          </a:xfrm>
        </p:spPr>
        <p:txBody>
          <a:bodyPr>
            <a:normAutofit/>
          </a:bodyPr>
          <a:lstStyle/>
          <a:p>
            <a:pPr>
              <a:lnSpc>
                <a:spcPct val="100000"/>
              </a:lnSpc>
            </a:pPr>
            <a:r>
              <a:rPr lang="en-US" b="0" i="0" dirty="0">
                <a:solidFill>
                  <a:srgbClr val="000000"/>
                </a:solidFill>
                <a:effectLst/>
              </a:rPr>
              <a:t>Old habits are replaced by new ones and the concern becomes more dynamic.</a:t>
            </a:r>
            <a:endParaRPr lang="en-US" dirty="0">
              <a:solidFill>
                <a:srgbClr val="000000"/>
              </a:solidFill>
            </a:endParaRPr>
          </a:p>
          <a:p>
            <a:pPr>
              <a:lnSpc>
                <a:spcPct val="100000"/>
              </a:lnSpc>
            </a:pPr>
            <a:r>
              <a:rPr lang="en-US" b="0" i="0" dirty="0">
                <a:solidFill>
                  <a:srgbClr val="000000"/>
                </a:solidFill>
                <a:effectLst/>
              </a:rPr>
              <a:t>The field of choice becomes very wide. Hence there is the possibility of selecting people with rich and varied experience.</a:t>
            </a:r>
            <a:r>
              <a:rPr lang="en-US" dirty="0"/>
              <a:t> </a:t>
            </a:r>
            <a:br>
              <a:rPr lang="en-US" dirty="0"/>
            </a:br>
            <a:endParaRPr lang="en-IN" dirty="0"/>
          </a:p>
        </p:txBody>
      </p:sp>
    </p:spTree>
    <p:extLst>
      <p:ext uri="{BB962C8B-B14F-4D97-AF65-F5344CB8AC3E}">
        <p14:creationId xmlns:p14="http://schemas.microsoft.com/office/powerpoint/2010/main" val="338928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A23D93-A113-418A-8A21-F892AA2792B1}"/>
              </a:ext>
            </a:extLst>
          </p:cNvPr>
          <p:cNvSpPr>
            <a:spLocks noGrp="1"/>
          </p:cNvSpPr>
          <p:nvPr>
            <p:ph type="title"/>
          </p:nvPr>
        </p:nvSpPr>
        <p:spPr>
          <a:xfrm>
            <a:off x="838200" y="365126"/>
            <a:ext cx="10515600" cy="513764"/>
          </a:xfrm>
        </p:spPr>
        <p:txBody>
          <a:bodyPr>
            <a:normAutofit/>
          </a:bodyPr>
          <a:lstStyle/>
          <a:p>
            <a:r>
              <a:rPr lang="en-US" sz="2800" i="0" dirty="0">
                <a:solidFill>
                  <a:srgbClr val="002060"/>
                </a:solidFill>
                <a:effectLst/>
                <a:latin typeface="Arial" panose="020B0604020202020204" pitchFamily="34" charset="0"/>
              </a:rPr>
              <a:t>Disadvantages of External Recruitment</a:t>
            </a:r>
            <a:r>
              <a:rPr lang="en-US" sz="2800" dirty="0">
                <a:solidFill>
                  <a:srgbClr val="002060"/>
                </a:solidFill>
              </a:rPr>
              <a:t> </a:t>
            </a:r>
            <a:endParaRPr lang="en-IN" sz="2800" dirty="0"/>
          </a:p>
        </p:txBody>
      </p:sp>
      <p:sp>
        <p:nvSpPr>
          <p:cNvPr id="3" name="Content Placeholder 2">
            <a:extLst>
              <a:ext uri="{FF2B5EF4-FFF2-40B4-BE49-F238E27FC236}">
                <a16:creationId xmlns:a16="http://schemas.microsoft.com/office/drawing/2014/main" xmlns="" id="{5ACADEE0-7992-48A4-A85F-7673514F7F77}"/>
              </a:ext>
            </a:extLst>
          </p:cNvPr>
          <p:cNvSpPr>
            <a:spLocks noGrp="1"/>
          </p:cNvSpPr>
          <p:nvPr>
            <p:ph idx="1"/>
          </p:nvPr>
        </p:nvSpPr>
        <p:spPr>
          <a:xfrm>
            <a:off x="838200" y="1083076"/>
            <a:ext cx="10515600" cy="5093887"/>
          </a:xfrm>
        </p:spPr>
        <p:txBody>
          <a:bodyPr>
            <a:normAutofit/>
          </a:bodyPr>
          <a:lstStyle/>
          <a:p>
            <a:pPr>
              <a:lnSpc>
                <a:spcPct val="100000"/>
              </a:lnSpc>
            </a:pPr>
            <a:r>
              <a:rPr lang="en-US" b="0" i="0" dirty="0">
                <a:solidFill>
                  <a:srgbClr val="000000"/>
                </a:solidFill>
                <a:effectLst/>
              </a:rPr>
              <a:t>If a concern makes recruitment from external sources, its employees generally feel frustrated and their morale is adversely affected.</a:t>
            </a:r>
            <a:endParaRPr lang="en-US" dirty="0">
              <a:solidFill>
                <a:srgbClr val="000000"/>
              </a:solidFill>
            </a:endParaRPr>
          </a:p>
          <a:p>
            <a:pPr>
              <a:lnSpc>
                <a:spcPct val="100000"/>
              </a:lnSpc>
            </a:pPr>
            <a:r>
              <a:rPr lang="en-US" b="0" i="0" dirty="0">
                <a:solidFill>
                  <a:srgbClr val="000000"/>
                </a:solidFill>
                <a:effectLst/>
              </a:rPr>
              <a:t>The present employees may lose their sense of security and become disloyal to the employer.</a:t>
            </a:r>
            <a:endParaRPr lang="en-US" dirty="0">
              <a:solidFill>
                <a:srgbClr val="000000"/>
              </a:solidFill>
            </a:endParaRPr>
          </a:p>
          <a:p>
            <a:pPr>
              <a:lnSpc>
                <a:spcPct val="100000"/>
              </a:lnSpc>
            </a:pPr>
            <a:r>
              <a:rPr lang="en-US" b="0" i="0" dirty="0">
                <a:solidFill>
                  <a:srgbClr val="000000"/>
                </a:solidFill>
                <a:effectLst/>
              </a:rPr>
              <a:t>There is a greater turnover of </a:t>
            </a:r>
            <a:r>
              <a:rPr lang="en-US" b="0" i="0" dirty="0" err="1">
                <a:solidFill>
                  <a:srgbClr val="000000"/>
                </a:solidFill>
                <a:effectLst/>
              </a:rPr>
              <a:t>labour</a:t>
            </a:r>
            <a:r>
              <a:rPr lang="en-US" b="0" i="0" dirty="0">
                <a:solidFill>
                  <a:srgbClr val="000000"/>
                </a:solidFill>
                <a:effectLst/>
              </a:rPr>
              <a:t>.</a:t>
            </a:r>
            <a:endParaRPr lang="en-US" dirty="0">
              <a:solidFill>
                <a:srgbClr val="000000"/>
              </a:solidFill>
            </a:endParaRPr>
          </a:p>
          <a:p>
            <a:pPr>
              <a:lnSpc>
                <a:spcPct val="100000"/>
              </a:lnSpc>
            </a:pPr>
            <a:r>
              <a:rPr lang="en-US" b="0" i="0" dirty="0">
                <a:solidFill>
                  <a:srgbClr val="000000"/>
                </a:solidFill>
                <a:effectLst/>
              </a:rPr>
              <a:t>There is deterioration in the employer-employee relationship, resulting in industrial unrest, strikes and lock-outs.</a:t>
            </a:r>
            <a:r>
              <a:rPr lang="en-US" dirty="0"/>
              <a:t> </a:t>
            </a:r>
            <a:br>
              <a:rPr lang="en-US" dirty="0"/>
            </a:br>
            <a:endParaRPr lang="en-IN" dirty="0"/>
          </a:p>
        </p:txBody>
      </p:sp>
    </p:spTree>
    <p:extLst>
      <p:ext uri="{BB962C8B-B14F-4D97-AF65-F5344CB8AC3E}">
        <p14:creationId xmlns:p14="http://schemas.microsoft.com/office/powerpoint/2010/main" val="39653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C17782-02DF-4C81-BAB2-14866FAA1CC5}"/>
              </a:ext>
            </a:extLst>
          </p:cNvPr>
          <p:cNvSpPr>
            <a:spLocks noGrp="1"/>
          </p:cNvSpPr>
          <p:nvPr>
            <p:ph type="title"/>
          </p:nvPr>
        </p:nvSpPr>
        <p:spPr>
          <a:xfrm>
            <a:off x="621437" y="365126"/>
            <a:ext cx="10732363" cy="575908"/>
          </a:xfrm>
        </p:spPr>
        <p:txBody>
          <a:bodyPr>
            <a:normAutofit/>
          </a:bodyPr>
          <a:lstStyle/>
          <a:p>
            <a:r>
              <a:rPr lang="en-IN" sz="3200" b="1" i="0" dirty="0">
                <a:solidFill>
                  <a:srgbClr val="C00000"/>
                </a:solidFill>
                <a:effectLst/>
                <a:latin typeface="+mn-lt"/>
              </a:rPr>
              <a:t>Selection</a:t>
            </a:r>
            <a:r>
              <a:rPr lang="en-IN" sz="3200" dirty="0">
                <a:solidFill>
                  <a:srgbClr val="C00000"/>
                </a:solidFill>
                <a:latin typeface="+mn-lt"/>
              </a:rPr>
              <a:t> </a:t>
            </a:r>
          </a:p>
        </p:txBody>
      </p:sp>
      <p:sp>
        <p:nvSpPr>
          <p:cNvPr id="3" name="Content Placeholder 2">
            <a:extLst>
              <a:ext uri="{FF2B5EF4-FFF2-40B4-BE49-F238E27FC236}">
                <a16:creationId xmlns:a16="http://schemas.microsoft.com/office/drawing/2014/main" xmlns="" id="{B2B26138-2A8D-492D-B7A4-B6F0BCBC26E1}"/>
              </a:ext>
            </a:extLst>
          </p:cNvPr>
          <p:cNvSpPr>
            <a:spLocks noGrp="1"/>
          </p:cNvSpPr>
          <p:nvPr>
            <p:ph idx="1"/>
          </p:nvPr>
        </p:nvSpPr>
        <p:spPr>
          <a:xfrm>
            <a:off x="536359" y="1065322"/>
            <a:ext cx="11353800" cy="5129398"/>
          </a:xfrm>
        </p:spPr>
        <p:txBody>
          <a:bodyPr>
            <a:noAutofit/>
          </a:bodyPr>
          <a:lstStyle/>
          <a:p>
            <a:pPr>
              <a:lnSpc>
                <a:spcPct val="100000"/>
              </a:lnSpc>
            </a:pPr>
            <a:r>
              <a:rPr lang="en-US" sz="2400" b="0" i="0" dirty="0">
                <a:solidFill>
                  <a:srgbClr val="000000"/>
                </a:solidFill>
                <a:effectLst/>
              </a:rPr>
              <a:t>During selection manager compares qualifications of </a:t>
            </a:r>
            <a:r>
              <a:rPr lang="en-IN" sz="2400" b="0" i="0" dirty="0">
                <a:solidFill>
                  <a:srgbClr val="000000"/>
                </a:solidFill>
                <a:effectLst/>
              </a:rPr>
              <a:t>candidates</a:t>
            </a:r>
            <a:r>
              <a:rPr lang="en-IN" sz="2400" dirty="0"/>
              <a:t> </a:t>
            </a:r>
            <a:r>
              <a:rPr lang="en-US" sz="2400" b="0" i="0" dirty="0">
                <a:solidFill>
                  <a:srgbClr val="000000"/>
                </a:solidFill>
                <a:effectLst/>
              </a:rPr>
              <a:t>with the requirements of a job and eliminates all those who do not stand up to this comparison.</a:t>
            </a:r>
            <a:r>
              <a:rPr lang="en-US" sz="2400" dirty="0"/>
              <a:t> </a:t>
            </a:r>
          </a:p>
          <a:p>
            <a:pPr marL="0" indent="0">
              <a:lnSpc>
                <a:spcPct val="100000"/>
              </a:lnSpc>
              <a:buNone/>
            </a:pPr>
            <a:r>
              <a:rPr lang="en-US" sz="2400" i="0" dirty="0">
                <a:solidFill>
                  <a:srgbClr val="FF0000"/>
                </a:solidFill>
                <a:effectLst/>
              </a:rPr>
              <a:t>Steps in the Selection Procedure</a:t>
            </a:r>
            <a:r>
              <a:rPr lang="en-US" sz="2400" dirty="0">
                <a:solidFill>
                  <a:srgbClr val="FF0000"/>
                </a:solidFill>
              </a:rPr>
              <a:t> </a:t>
            </a:r>
          </a:p>
          <a:p>
            <a:pPr marL="0" indent="0">
              <a:lnSpc>
                <a:spcPct val="100000"/>
              </a:lnSpc>
              <a:buNone/>
            </a:pPr>
            <a:r>
              <a:rPr lang="en-US" sz="2400" b="0" i="0" dirty="0">
                <a:solidFill>
                  <a:srgbClr val="000000"/>
                </a:solidFill>
                <a:effectLst/>
              </a:rPr>
              <a:t>Though there is no standard procedure adopted by all </a:t>
            </a:r>
            <a:r>
              <a:rPr lang="en-US" sz="2400" b="0" i="0" dirty="0" err="1">
                <a:solidFill>
                  <a:srgbClr val="000000"/>
                </a:solidFill>
                <a:effectLst/>
              </a:rPr>
              <a:t>organisations</a:t>
            </a:r>
            <a:r>
              <a:rPr lang="en-US" sz="2400" b="0" i="0" dirty="0">
                <a:solidFill>
                  <a:srgbClr val="000000"/>
                </a:solidFill>
                <a:effectLst/>
              </a:rPr>
              <a:t>, the following is an example of a popular sequence of steps:</a:t>
            </a:r>
          </a:p>
          <a:p>
            <a:pPr marL="457200" indent="-457200">
              <a:lnSpc>
                <a:spcPct val="100000"/>
              </a:lnSpc>
              <a:spcBef>
                <a:spcPts val="600"/>
              </a:spcBef>
              <a:buFont typeface="+mj-lt"/>
              <a:buAutoNum type="arabicPeriod"/>
            </a:pPr>
            <a:r>
              <a:rPr lang="en-US" sz="2400" b="0" i="0" dirty="0">
                <a:solidFill>
                  <a:srgbClr val="000000"/>
                </a:solidFill>
                <a:effectLst/>
              </a:rPr>
              <a:t>Application blank</a:t>
            </a:r>
          </a:p>
          <a:p>
            <a:pPr marL="457200" indent="-457200">
              <a:lnSpc>
                <a:spcPct val="100000"/>
              </a:lnSpc>
              <a:spcBef>
                <a:spcPts val="600"/>
              </a:spcBef>
              <a:buFont typeface="+mj-lt"/>
              <a:buAutoNum type="arabicPeriod"/>
            </a:pPr>
            <a:r>
              <a:rPr lang="en-US" sz="2400" b="0" i="0" dirty="0">
                <a:solidFill>
                  <a:srgbClr val="000000"/>
                </a:solidFill>
                <a:effectLst/>
              </a:rPr>
              <a:t>Initial interview of the candidate</a:t>
            </a:r>
          </a:p>
          <a:p>
            <a:pPr marL="457200" indent="-457200">
              <a:lnSpc>
                <a:spcPct val="100000"/>
              </a:lnSpc>
              <a:spcBef>
                <a:spcPts val="600"/>
              </a:spcBef>
              <a:buFont typeface="+mj-lt"/>
              <a:buAutoNum type="arabicPeriod"/>
            </a:pPr>
            <a:r>
              <a:rPr lang="en-US" sz="2400" b="0" i="0" dirty="0">
                <a:solidFill>
                  <a:srgbClr val="000000"/>
                </a:solidFill>
                <a:effectLst/>
              </a:rPr>
              <a:t>Employment tests</a:t>
            </a:r>
          </a:p>
          <a:p>
            <a:pPr marL="457200" indent="-457200">
              <a:lnSpc>
                <a:spcPct val="100000"/>
              </a:lnSpc>
              <a:spcBef>
                <a:spcPts val="600"/>
              </a:spcBef>
              <a:buFont typeface="+mj-lt"/>
              <a:buAutoNum type="arabicPeriod"/>
            </a:pPr>
            <a:r>
              <a:rPr lang="en-US" sz="2400" b="0" i="0" dirty="0">
                <a:solidFill>
                  <a:srgbClr val="000000"/>
                </a:solidFill>
                <a:effectLst/>
              </a:rPr>
              <a:t>Checking references</a:t>
            </a:r>
          </a:p>
          <a:p>
            <a:pPr marL="457200" indent="-457200">
              <a:lnSpc>
                <a:spcPct val="100000"/>
              </a:lnSpc>
              <a:spcBef>
                <a:spcPts val="600"/>
              </a:spcBef>
              <a:buFont typeface="+mj-lt"/>
              <a:buAutoNum type="arabicPeriod"/>
            </a:pPr>
            <a:r>
              <a:rPr lang="en-US" sz="2400" b="0" i="0" dirty="0">
                <a:solidFill>
                  <a:srgbClr val="000000"/>
                </a:solidFill>
                <a:effectLst/>
              </a:rPr>
              <a:t>Physical or medical examination</a:t>
            </a:r>
          </a:p>
          <a:p>
            <a:pPr marL="457200" indent="-457200">
              <a:lnSpc>
                <a:spcPct val="100000"/>
              </a:lnSpc>
              <a:spcBef>
                <a:spcPts val="600"/>
              </a:spcBef>
              <a:buFont typeface="+mj-lt"/>
              <a:buAutoNum type="arabicPeriod"/>
            </a:pPr>
            <a:r>
              <a:rPr lang="en-US" sz="2400" b="0" i="0" dirty="0">
                <a:solidFill>
                  <a:srgbClr val="000000"/>
                </a:solidFill>
                <a:effectLst/>
              </a:rPr>
              <a:t>Final interview</a:t>
            </a:r>
            <a:r>
              <a:rPr lang="en-US" sz="2400" dirty="0"/>
              <a:t> </a:t>
            </a:r>
            <a:br>
              <a:rPr lang="en-US" sz="2400" dirty="0"/>
            </a:br>
            <a:r>
              <a:rPr lang="en-US" sz="2400" dirty="0"/>
              <a:t/>
            </a:r>
            <a:br>
              <a:rPr lang="en-US" sz="2400" dirty="0"/>
            </a:br>
            <a:r>
              <a:rPr lang="en-US" sz="2400" dirty="0"/>
              <a:t/>
            </a:r>
            <a:br>
              <a:rPr lang="en-US" sz="2400" dirty="0"/>
            </a:br>
            <a:endParaRPr lang="en-IN" sz="2400" dirty="0"/>
          </a:p>
        </p:txBody>
      </p:sp>
    </p:spTree>
    <p:extLst>
      <p:ext uri="{BB962C8B-B14F-4D97-AF65-F5344CB8AC3E}">
        <p14:creationId xmlns:p14="http://schemas.microsoft.com/office/powerpoint/2010/main" val="89822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655</TotalTime>
  <Words>3330</Words>
  <Application>Microsoft Office PowerPoint</Application>
  <PresentationFormat>Widescreen</PresentationFormat>
  <Paragraphs>286</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Times New Roman</vt:lpstr>
      <vt:lpstr>Office Theme</vt:lpstr>
      <vt:lpstr>Management  &amp;  Entrepreneurship Development</vt:lpstr>
      <vt:lpstr>Organizing, Staffing,  Directing &amp; Controlling</vt:lpstr>
      <vt:lpstr>PowerPoint Presentation</vt:lpstr>
      <vt:lpstr>PowerPoint Presentation</vt:lpstr>
      <vt:lpstr>Organisation Definition </vt:lpstr>
      <vt:lpstr>PowerPoint Presentation</vt:lpstr>
      <vt:lpstr>PowerPoint Presentation</vt:lpstr>
      <vt:lpstr>Types of Organisations </vt:lpstr>
      <vt:lpstr>Process of Organising </vt:lpstr>
      <vt:lpstr>PowerPoint Presentation</vt:lpstr>
      <vt:lpstr>PowerPoint Presentation</vt:lpstr>
      <vt:lpstr>PowerPoint Presentation</vt:lpstr>
      <vt:lpstr>Principles of Organising </vt:lpstr>
      <vt:lpstr>PowerPoint Presentation</vt:lpstr>
      <vt:lpstr>PowerPoint Presentation</vt:lpstr>
      <vt:lpstr>PowerPoint Presentation</vt:lpstr>
      <vt:lpstr>PowerPoint Presentation</vt:lpstr>
      <vt:lpstr>PowerPoint Presentation</vt:lpstr>
      <vt:lpstr>Span of Management or Span of Control </vt:lpstr>
      <vt:lpstr>PowerPoint Presentation</vt:lpstr>
      <vt:lpstr>PowerPoint Presentation</vt:lpstr>
      <vt:lpstr>Factors Governing the Span of Management  (Contingency Approach) </vt:lpstr>
      <vt:lpstr>PowerPoint Presentation</vt:lpstr>
      <vt:lpstr>PowerPoint Presentation</vt:lpstr>
      <vt:lpstr>Departmentalisation </vt:lpstr>
      <vt:lpstr>Committees </vt:lpstr>
      <vt:lpstr>PowerPoint Presentation</vt:lpstr>
      <vt:lpstr>PowerPoint Presentation</vt:lpstr>
      <vt:lpstr>PowerPoint Presentation</vt:lpstr>
      <vt:lpstr>Advantages </vt:lpstr>
      <vt:lpstr>PowerPoint Presentation</vt:lpstr>
      <vt:lpstr>Weaknesses </vt:lpstr>
      <vt:lpstr>Suggestions for Making Committees Effective </vt:lpstr>
      <vt:lpstr>PowerPoint Presentation</vt:lpstr>
      <vt:lpstr>Authority </vt:lpstr>
      <vt:lpstr>Responsibility </vt:lpstr>
      <vt:lpstr>PowerPoint Presentation</vt:lpstr>
      <vt:lpstr>Authority Should Equal Responsibility </vt:lpstr>
      <vt:lpstr>Centralisation and Decentralisation</vt:lpstr>
      <vt:lpstr>PowerPoint Presentation</vt:lpstr>
      <vt:lpstr>PowerPoint Presentation</vt:lpstr>
      <vt:lpstr>Staffing </vt:lpstr>
      <vt:lpstr>PowerPoint Presentation</vt:lpstr>
      <vt:lpstr>Importance and Need for Proper Staffing </vt:lpstr>
      <vt:lpstr>Recruitment </vt:lpstr>
      <vt:lpstr>PowerPoint Presentation</vt:lpstr>
      <vt:lpstr>Sources of Recruitment</vt:lpstr>
      <vt:lpstr>PowerPoint Presentation</vt:lpstr>
      <vt:lpstr>Evaluation of Alternative Sources </vt:lpstr>
      <vt:lpstr>Advantages of Internal Recruitment </vt:lpstr>
      <vt:lpstr>Disadvantages of Internal Recruitment </vt:lpstr>
      <vt:lpstr>Advantages of External Recruitment </vt:lpstr>
      <vt:lpstr>Disadvantages of External Recruitment </vt:lpstr>
      <vt:lpstr>Selection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&amp;  Entrepreneurship Development</dc:title>
  <dc:creator>Sharath H K</dc:creator>
  <cp:lastModifiedBy>mech</cp:lastModifiedBy>
  <cp:revision>74</cp:revision>
  <dcterms:created xsi:type="dcterms:W3CDTF">2020-11-01T08:01:09Z</dcterms:created>
  <dcterms:modified xsi:type="dcterms:W3CDTF">2025-10-13T10:11:48Z</dcterms:modified>
</cp:coreProperties>
</file>